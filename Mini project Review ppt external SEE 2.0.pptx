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handoutMasterIdLst>
    <p:handoutMasterId r:id="rId18"/>
  </p:handoutMasterIdLst>
  <p:sldIdLst>
    <p:sldId id="256" r:id="rId2"/>
    <p:sldId id="259" r:id="rId3"/>
    <p:sldId id="327" r:id="rId4"/>
    <p:sldId id="333" r:id="rId5"/>
    <p:sldId id="350" r:id="rId6"/>
    <p:sldId id="351" r:id="rId7"/>
    <p:sldId id="335" r:id="rId8"/>
    <p:sldId id="354" r:id="rId9"/>
    <p:sldId id="353" r:id="rId10"/>
    <p:sldId id="330" r:id="rId11"/>
    <p:sldId id="346" r:id="rId12"/>
    <p:sldId id="352" r:id="rId13"/>
    <p:sldId id="355" r:id="rId14"/>
    <p:sldId id="349" r:id="rId15"/>
    <p:sldId id="326" r:id="rId1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53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p:cViewPr varScale="1">
        <p:scale>
          <a:sx n="59" d="100"/>
          <a:sy n="59" d="100"/>
        </p:scale>
        <p:origin x="1516"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349C0CB-3077-4A2C-A263-34908B18F16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F70FDBD4-CECE-4489-86D6-D12748BF192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18AD1CAA-8E5C-49F6-8938-72360B2BE9BA}" type="datetimeFigureOut">
              <a:rPr lang="en-US"/>
              <a:pPr>
                <a:defRPr/>
              </a:pPr>
              <a:t>6/15/2026</a:t>
            </a:fld>
            <a:endParaRPr lang="en-US"/>
          </a:p>
        </p:txBody>
      </p:sp>
      <p:sp>
        <p:nvSpPr>
          <p:cNvPr id="4" name="Footer Placeholder 3">
            <a:extLst>
              <a:ext uri="{FF2B5EF4-FFF2-40B4-BE49-F238E27FC236}">
                <a16:creationId xmlns:a16="http://schemas.microsoft.com/office/drawing/2014/main" id="{EBAF0860-EA4C-470F-953E-A330E0ABA9D4}"/>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46CD5A3C-3604-4181-BB10-EF1F20AB415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E5D8934D-CC79-41E4-84A0-8E210C28D030}"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1F8ED2-BED6-42C2-80BF-D0DDEF1BB6B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2E0A5090-DDE5-4846-93BE-A1655C2571B9}"/>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94D85942-DFC5-4B20-B5C9-CCE8F5D93199}" type="datetimeFigureOut">
              <a:rPr lang="en-US"/>
              <a:pPr>
                <a:defRPr/>
              </a:pPr>
              <a:t>6/15/2026</a:t>
            </a:fld>
            <a:endParaRPr lang="en-US"/>
          </a:p>
        </p:txBody>
      </p:sp>
      <p:sp>
        <p:nvSpPr>
          <p:cNvPr id="4" name="Slide Image Placeholder 3">
            <a:extLst>
              <a:ext uri="{FF2B5EF4-FFF2-40B4-BE49-F238E27FC236}">
                <a16:creationId xmlns:a16="http://schemas.microsoft.com/office/drawing/2014/main" id="{B4DCBBA6-3CFE-454C-915B-2F557CCB50CF}"/>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1FA9522D-261C-456E-9909-C0D312DD7BCA}"/>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668F42A2-8DE7-4D71-92CA-346712661AC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45F32067-15CE-4CFC-88B9-89B3A0F219E7}"/>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A6A9F5FE-36A4-49E1-AC13-A222A2289585}"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7840EE95-7363-4926-B290-3A8210046C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a:extLst>
              <a:ext uri="{FF2B5EF4-FFF2-40B4-BE49-F238E27FC236}">
                <a16:creationId xmlns:a16="http://schemas.microsoft.com/office/drawing/2014/main" id="{63985331-A8BE-46A9-BEEC-B969CF2C8C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altLang="en-US"/>
          </a:p>
        </p:txBody>
      </p:sp>
      <p:sp>
        <p:nvSpPr>
          <p:cNvPr id="14340" name="Slide Number Placeholder 3">
            <a:extLst>
              <a:ext uri="{FF2B5EF4-FFF2-40B4-BE49-F238E27FC236}">
                <a16:creationId xmlns:a16="http://schemas.microsoft.com/office/drawing/2014/main" id="{464F66CD-1804-40B2-A3A3-A8D525DB9A4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CAE71682-A2E8-46DE-A7B3-20F0B3AD6C26}" type="slidenum">
              <a:rPr lang="en-US" altLang="en-US"/>
              <a:pPr/>
              <a:t>2</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4</a:t>
            </a:fld>
            <a:endParaRPr lang="en-US" altLang="en-US"/>
          </a:p>
        </p:txBody>
      </p:sp>
    </p:spTree>
    <p:extLst>
      <p:ext uri="{BB962C8B-B14F-4D97-AF65-F5344CB8AC3E}">
        <p14:creationId xmlns:p14="http://schemas.microsoft.com/office/powerpoint/2010/main" val="3555533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5</a:t>
            </a:fld>
            <a:endParaRPr lang="en-US" altLang="en-US"/>
          </a:p>
        </p:txBody>
      </p:sp>
    </p:spTree>
    <p:extLst>
      <p:ext uri="{BB962C8B-B14F-4D97-AF65-F5344CB8AC3E}">
        <p14:creationId xmlns:p14="http://schemas.microsoft.com/office/powerpoint/2010/main" val="2229678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A9F5FE-36A4-49E1-AC13-A222A2289585}" type="slidenum">
              <a:rPr lang="en-US" altLang="en-US" smtClean="0"/>
              <a:pPr/>
              <a:t>6</a:t>
            </a:fld>
            <a:endParaRPr lang="en-US" altLang="en-US"/>
          </a:p>
        </p:txBody>
      </p:sp>
    </p:spTree>
    <p:extLst>
      <p:ext uri="{BB962C8B-B14F-4D97-AF65-F5344CB8AC3E}">
        <p14:creationId xmlns:p14="http://schemas.microsoft.com/office/powerpoint/2010/main" val="610534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4780920D-B6AE-44B7-A614-3E19FD85E578}"/>
              </a:ext>
            </a:extLst>
          </p:cNvPr>
          <p:cNvSpPr>
            <a:spLocks noGrp="1"/>
          </p:cNvSpPr>
          <p:nvPr>
            <p:ph type="dt" sz="half" idx="10"/>
          </p:nvPr>
        </p:nvSpPr>
        <p:spPr/>
        <p:txBody>
          <a:bodyPr/>
          <a:lstStyle>
            <a:lvl1pPr>
              <a:defRPr/>
            </a:lvl1pPr>
          </a:lstStyle>
          <a:p>
            <a:pPr>
              <a:defRPr/>
            </a:pPr>
            <a:fld id="{2685013B-3371-48FC-9407-F92BD42A5CA9}" type="datetime1">
              <a:rPr lang="en-US"/>
              <a:pPr>
                <a:defRPr/>
              </a:pPr>
              <a:t>6/15/2026</a:t>
            </a:fld>
            <a:endParaRPr lang="en-US"/>
          </a:p>
        </p:txBody>
      </p:sp>
      <p:sp>
        <p:nvSpPr>
          <p:cNvPr id="5" name="Footer Placeholder 4">
            <a:extLst>
              <a:ext uri="{FF2B5EF4-FFF2-40B4-BE49-F238E27FC236}">
                <a16:creationId xmlns:a16="http://schemas.microsoft.com/office/drawing/2014/main" id="{E3FADB77-829A-477C-9C0C-151A5096E0BA}"/>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5539F79D-D26C-4B9A-9720-48C3725EFBFE}"/>
              </a:ext>
            </a:extLst>
          </p:cNvPr>
          <p:cNvSpPr>
            <a:spLocks noGrp="1"/>
          </p:cNvSpPr>
          <p:nvPr>
            <p:ph type="sldNum" sz="quarter" idx="12"/>
          </p:nvPr>
        </p:nvSpPr>
        <p:spPr/>
        <p:txBody>
          <a:bodyPr/>
          <a:lstStyle>
            <a:lvl1pPr>
              <a:defRPr/>
            </a:lvl1pPr>
          </a:lstStyle>
          <a:p>
            <a:fld id="{381673AE-CDED-468E-9E60-13F9774D8EF6}" type="slidenum">
              <a:rPr lang="en-US" altLang="en-US"/>
              <a:pPr/>
              <a:t>‹#›</a:t>
            </a:fld>
            <a:endParaRPr lang="en-US" altLang="en-US"/>
          </a:p>
        </p:txBody>
      </p:sp>
    </p:spTree>
    <p:extLst>
      <p:ext uri="{BB962C8B-B14F-4D97-AF65-F5344CB8AC3E}">
        <p14:creationId xmlns:p14="http://schemas.microsoft.com/office/powerpoint/2010/main" val="1212531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E68E3-5E88-4FA2-8C26-450DBAD826DA}"/>
              </a:ext>
            </a:extLst>
          </p:cNvPr>
          <p:cNvSpPr>
            <a:spLocks noGrp="1"/>
          </p:cNvSpPr>
          <p:nvPr>
            <p:ph type="dt" sz="half" idx="10"/>
          </p:nvPr>
        </p:nvSpPr>
        <p:spPr/>
        <p:txBody>
          <a:bodyPr/>
          <a:lstStyle>
            <a:lvl1pPr>
              <a:defRPr/>
            </a:lvl1pPr>
          </a:lstStyle>
          <a:p>
            <a:pPr>
              <a:defRPr/>
            </a:pPr>
            <a:fld id="{BDE8CA06-C0FA-4A35-B9BF-5CBFE5CB9336}" type="datetime1">
              <a:rPr lang="en-US"/>
              <a:pPr>
                <a:defRPr/>
              </a:pPr>
              <a:t>6/15/2026</a:t>
            </a:fld>
            <a:endParaRPr lang="en-US"/>
          </a:p>
        </p:txBody>
      </p:sp>
      <p:sp>
        <p:nvSpPr>
          <p:cNvPr id="5" name="Footer Placeholder 4">
            <a:extLst>
              <a:ext uri="{FF2B5EF4-FFF2-40B4-BE49-F238E27FC236}">
                <a16:creationId xmlns:a16="http://schemas.microsoft.com/office/drawing/2014/main" id="{B6E4CD55-6E4A-4A63-98EF-FA743743FE7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B50F5683-DEE8-45FB-8DAD-B25D6E885B1A}"/>
              </a:ext>
            </a:extLst>
          </p:cNvPr>
          <p:cNvSpPr>
            <a:spLocks noGrp="1"/>
          </p:cNvSpPr>
          <p:nvPr>
            <p:ph type="sldNum" sz="quarter" idx="12"/>
          </p:nvPr>
        </p:nvSpPr>
        <p:spPr/>
        <p:txBody>
          <a:bodyPr/>
          <a:lstStyle>
            <a:lvl1pPr>
              <a:defRPr/>
            </a:lvl1pPr>
          </a:lstStyle>
          <a:p>
            <a:fld id="{E021BEF2-95F5-417E-9097-980329164CCD}" type="slidenum">
              <a:rPr lang="en-US" altLang="en-US"/>
              <a:pPr/>
              <a:t>‹#›</a:t>
            </a:fld>
            <a:endParaRPr lang="en-US" altLang="en-US"/>
          </a:p>
        </p:txBody>
      </p:sp>
    </p:spTree>
    <p:extLst>
      <p:ext uri="{BB962C8B-B14F-4D97-AF65-F5344CB8AC3E}">
        <p14:creationId xmlns:p14="http://schemas.microsoft.com/office/powerpoint/2010/main" val="3173740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40D9E7-0515-400A-86E2-F96F6242C88C}"/>
              </a:ext>
            </a:extLst>
          </p:cNvPr>
          <p:cNvSpPr>
            <a:spLocks noGrp="1"/>
          </p:cNvSpPr>
          <p:nvPr>
            <p:ph type="dt" sz="half" idx="10"/>
          </p:nvPr>
        </p:nvSpPr>
        <p:spPr/>
        <p:txBody>
          <a:bodyPr/>
          <a:lstStyle>
            <a:lvl1pPr>
              <a:defRPr/>
            </a:lvl1pPr>
          </a:lstStyle>
          <a:p>
            <a:pPr>
              <a:defRPr/>
            </a:pPr>
            <a:fld id="{EDBE9779-8E71-4A34-ACDD-8BB13DEE2332}" type="datetime1">
              <a:rPr lang="en-US"/>
              <a:pPr>
                <a:defRPr/>
              </a:pPr>
              <a:t>6/15/2026</a:t>
            </a:fld>
            <a:endParaRPr lang="en-US"/>
          </a:p>
        </p:txBody>
      </p:sp>
      <p:sp>
        <p:nvSpPr>
          <p:cNvPr id="5" name="Footer Placeholder 4">
            <a:extLst>
              <a:ext uri="{FF2B5EF4-FFF2-40B4-BE49-F238E27FC236}">
                <a16:creationId xmlns:a16="http://schemas.microsoft.com/office/drawing/2014/main" id="{1ECE256D-C27A-4160-9DB1-FF5E7864C41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176E034D-8222-48D3-89D9-7CEBFB7D4DA3}"/>
              </a:ext>
            </a:extLst>
          </p:cNvPr>
          <p:cNvSpPr>
            <a:spLocks noGrp="1"/>
          </p:cNvSpPr>
          <p:nvPr>
            <p:ph type="sldNum" sz="quarter" idx="12"/>
          </p:nvPr>
        </p:nvSpPr>
        <p:spPr/>
        <p:txBody>
          <a:bodyPr/>
          <a:lstStyle>
            <a:lvl1pPr>
              <a:defRPr/>
            </a:lvl1pPr>
          </a:lstStyle>
          <a:p>
            <a:fld id="{B887B5C6-F485-457A-88E2-FF928EC41EA4}" type="slidenum">
              <a:rPr lang="en-US" altLang="en-US"/>
              <a:pPr/>
              <a:t>‹#›</a:t>
            </a:fld>
            <a:endParaRPr lang="en-US" altLang="en-US"/>
          </a:p>
        </p:txBody>
      </p:sp>
    </p:spTree>
    <p:extLst>
      <p:ext uri="{BB962C8B-B14F-4D97-AF65-F5344CB8AC3E}">
        <p14:creationId xmlns:p14="http://schemas.microsoft.com/office/powerpoint/2010/main" val="1145745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62788E1-6A09-47B5-BC67-57CE1B8E32B4}"/>
              </a:ext>
            </a:extLst>
          </p:cNvPr>
          <p:cNvSpPr>
            <a:spLocks noGrp="1"/>
          </p:cNvSpPr>
          <p:nvPr>
            <p:ph type="dt" sz="half" idx="10"/>
          </p:nvPr>
        </p:nvSpPr>
        <p:spPr/>
        <p:txBody>
          <a:bodyPr/>
          <a:lstStyle>
            <a:lvl1pPr>
              <a:defRPr/>
            </a:lvl1pPr>
          </a:lstStyle>
          <a:p>
            <a:pPr>
              <a:defRPr/>
            </a:pPr>
            <a:fld id="{0C4B0931-B853-4338-857D-EC51455FBAEA}" type="datetime1">
              <a:rPr lang="en-US"/>
              <a:pPr>
                <a:defRPr/>
              </a:pPr>
              <a:t>6/15/2026</a:t>
            </a:fld>
            <a:endParaRPr lang="en-US"/>
          </a:p>
        </p:txBody>
      </p:sp>
      <p:sp>
        <p:nvSpPr>
          <p:cNvPr id="6" name="Footer Placeholder 4">
            <a:extLst>
              <a:ext uri="{FF2B5EF4-FFF2-40B4-BE49-F238E27FC236}">
                <a16:creationId xmlns:a16="http://schemas.microsoft.com/office/drawing/2014/main" id="{56718E1B-2187-4A00-8130-FF0CCF1858D1}"/>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B829CFF-BC30-4A03-9C08-2E85922F62BF}"/>
              </a:ext>
            </a:extLst>
          </p:cNvPr>
          <p:cNvSpPr>
            <a:spLocks noGrp="1"/>
          </p:cNvSpPr>
          <p:nvPr>
            <p:ph type="sldNum" sz="quarter" idx="12"/>
          </p:nvPr>
        </p:nvSpPr>
        <p:spPr/>
        <p:txBody>
          <a:bodyPr/>
          <a:lstStyle>
            <a:lvl1pPr>
              <a:defRPr/>
            </a:lvl1pPr>
          </a:lstStyle>
          <a:p>
            <a:fld id="{6430785C-3C3F-4D72-B6E5-E6D38F555861}" type="slidenum">
              <a:rPr lang="en-US" altLang="en-US"/>
              <a:pPr/>
              <a:t>‹#›</a:t>
            </a:fld>
            <a:endParaRPr lang="en-US" altLang="en-US"/>
          </a:p>
        </p:txBody>
      </p:sp>
    </p:spTree>
    <p:extLst>
      <p:ext uri="{BB962C8B-B14F-4D97-AF65-F5344CB8AC3E}">
        <p14:creationId xmlns:p14="http://schemas.microsoft.com/office/powerpoint/2010/main" val="2903186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A1461F9-281D-4D2B-9EF4-0961D9F5ACAD}"/>
              </a:ext>
            </a:extLst>
          </p:cNvPr>
          <p:cNvSpPr>
            <a:spLocks noGrp="1"/>
          </p:cNvSpPr>
          <p:nvPr>
            <p:ph type="dt" sz="half" idx="10"/>
          </p:nvPr>
        </p:nvSpPr>
        <p:spPr/>
        <p:txBody>
          <a:bodyPr/>
          <a:lstStyle>
            <a:lvl1pPr>
              <a:defRPr/>
            </a:lvl1pPr>
          </a:lstStyle>
          <a:p>
            <a:pPr>
              <a:defRPr/>
            </a:pPr>
            <a:fld id="{D9F35988-ABC1-47B4-8337-180F809C6E04}" type="datetime1">
              <a:rPr lang="en-US"/>
              <a:pPr>
                <a:defRPr/>
              </a:pPr>
              <a:t>6/15/2026</a:t>
            </a:fld>
            <a:endParaRPr lang="en-US"/>
          </a:p>
        </p:txBody>
      </p:sp>
      <p:sp>
        <p:nvSpPr>
          <p:cNvPr id="8" name="Footer Placeholder 4">
            <a:extLst>
              <a:ext uri="{FF2B5EF4-FFF2-40B4-BE49-F238E27FC236}">
                <a16:creationId xmlns:a16="http://schemas.microsoft.com/office/drawing/2014/main" id="{32E3E607-E774-4F71-ACBB-FE851B9432E0}"/>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9" name="Slide Number Placeholder 5">
            <a:extLst>
              <a:ext uri="{FF2B5EF4-FFF2-40B4-BE49-F238E27FC236}">
                <a16:creationId xmlns:a16="http://schemas.microsoft.com/office/drawing/2014/main" id="{E4CFFD8A-7C08-446F-B45D-132D79B6B82E}"/>
              </a:ext>
            </a:extLst>
          </p:cNvPr>
          <p:cNvSpPr>
            <a:spLocks noGrp="1"/>
          </p:cNvSpPr>
          <p:nvPr>
            <p:ph type="sldNum" sz="quarter" idx="12"/>
          </p:nvPr>
        </p:nvSpPr>
        <p:spPr/>
        <p:txBody>
          <a:bodyPr/>
          <a:lstStyle>
            <a:lvl1pPr>
              <a:defRPr/>
            </a:lvl1pPr>
          </a:lstStyle>
          <a:p>
            <a:fld id="{B998D808-031B-4F6F-A439-4ABFE2BF389D}" type="slidenum">
              <a:rPr lang="en-US" altLang="en-US"/>
              <a:pPr/>
              <a:t>‹#›</a:t>
            </a:fld>
            <a:endParaRPr lang="en-US" altLang="en-US"/>
          </a:p>
        </p:txBody>
      </p:sp>
    </p:spTree>
    <p:extLst>
      <p:ext uri="{BB962C8B-B14F-4D97-AF65-F5344CB8AC3E}">
        <p14:creationId xmlns:p14="http://schemas.microsoft.com/office/powerpoint/2010/main" val="2188178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FECACAB-8F93-4899-AD13-62CA490A57C8}"/>
              </a:ext>
            </a:extLst>
          </p:cNvPr>
          <p:cNvSpPr>
            <a:spLocks noGrp="1"/>
          </p:cNvSpPr>
          <p:nvPr>
            <p:ph type="dt" sz="half" idx="10"/>
          </p:nvPr>
        </p:nvSpPr>
        <p:spPr/>
        <p:txBody>
          <a:bodyPr/>
          <a:lstStyle>
            <a:lvl1pPr>
              <a:defRPr/>
            </a:lvl1pPr>
          </a:lstStyle>
          <a:p>
            <a:pPr>
              <a:defRPr/>
            </a:pPr>
            <a:fld id="{7DDF58F0-0B71-4C0D-BBA6-85074C846FE6}" type="datetime1">
              <a:rPr lang="en-US"/>
              <a:pPr>
                <a:defRPr/>
              </a:pPr>
              <a:t>6/15/2026</a:t>
            </a:fld>
            <a:endParaRPr lang="en-US"/>
          </a:p>
        </p:txBody>
      </p:sp>
      <p:sp>
        <p:nvSpPr>
          <p:cNvPr id="4" name="Footer Placeholder 4">
            <a:extLst>
              <a:ext uri="{FF2B5EF4-FFF2-40B4-BE49-F238E27FC236}">
                <a16:creationId xmlns:a16="http://schemas.microsoft.com/office/drawing/2014/main" id="{446160C0-EE48-4D0E-A5AB-28501651FCE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5" name="Slide Number Placeholder 5">
            <a:extLst>
              <a:ext uri="{FF2B5EF4-FFF2-40B4-BE49-F238E27FC236}">
                <a16:creationId xmlns:a16="http://schemas.microsoft.com/office/drawing/2014/main" id="{DAD730CE-7954-4549-BAAE-6B545D3EC856}"/>
              </a:ext>
            </a:extLst>
          </p:cNvPr>
          <p:cNvSpPr>
            <a:spLocks noGrp="1"/>
          </p:cNvSpPr>
          <p:nvPr>
            <p:ph type="sldNum" sz="quarter" idx="12"/>
          </p:nvPr>
        </p:nvSpPr>
        <p:spPr/>
        <p:txBody>
          <a:bodyPr/>
          <a:lstStyle>
            <a:lvl1pPr>
              <a:defRPr/>
            </a:lvl1pPr>
          </a:lstStyle>
          <a:p>
            <a:fld id="{81B35500-9D2C-47A3-BF87-3935A794A65A}" type="slidenum">
              <a:rPr lang="en-US" altLang="en-US"/>
              <a:pPr/>
              <a:t>‹#›</a:t>
            </a:fld>
            <a:endParaRPr lang="en-US" altLang="en-US"/>
          </a:p>
        </p:txBody>
      </p:sp>
    </p:spTree>
    <p:extLst>
      <p:ext uri="{BB962C8B-B14F-4D97-AF65-F5344CB8AC3E}">
        <p14:creationId xmlns:p14="http://schemas.microsoft.com/office/powerpoint/2010/main" val="2060302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7E62CF2-CD3F-46A2-8A14-8052FB3F979E}"/>
              </a:ext>
            </a:extLst>
          </p:cNvPr>
          <p:cNvSpPr>
            <a:spLocks noGrp="1"/>
          </p:cNvSpPr>
          <p:nvPr>
            <p:ph type="dt" sz="half" idx="10"/>
          </p:nvPr>
        </p:nvSpPr>
        <p:spPr/>
        <p:txBody>
          <a:bodyPr/>
          <a:lstStyle>
            <a:lvl1pPr>
              <a:defRPr/>
            </a:lvl1pPr>
          </a:lstStyle>
          <a:p>
            <a:pPr>
              <a:defRPr/>
            </a:pPr>
            <a:fld id="{3433D11A-F1DE-4A50-95C9-D10180535CA0}" type="datetime1">
              <a:rPr lang="en-US"/>
              <a:pPr>
                <a:defRPr/>
              </a:pPr>
              <a:t>6/15/2026</a:t>
            </a:fld>
            <a:endParaRPr lang="en-US"/>
          </a:p>
        </p:txBody>
      </p:sp>
      <p:sp>
        <p:nvSpPr>
          <p:cNvPr id="3" name="Footer Placeholder 4">
            <a:extLst>
              <a:ext uri="{FF2B5EF4-FFF2-40B4-BE49-F238E27FC236}">
                <a16:creationId xmlns:a16="http://schemas.microsoft.com/office/drawing/2014/main" id="{641D14B1-D7C1-4357-B6C5-D6BDF3D8AE8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4" name="Slide Number Placeholder 5">
            <a:extLst>
              <a:ext uri="{FF2B5EF4-FFF2-40B4-BE49-F238E27FC236}">
                <a16:creationId xmlns:a16="http://schemas.microsoft.com/office/drawing/2014/main" id="{61A949BD-68C3-4EEF-B906-09FE3440E3FE}"/>
              </a:ext>
            </a:extLst>
          </p:cNvPr>
          <p:cNvSpPr>
            <a:spLocks noGrp="1"/>
          </p:cNvSpPr>
          <p:nvPr>
            <p:ph type="sldNum" sz="quarter" idx="12"/>
          </p:nvPr>
        </p:nvSpPr>
        <p:spPr/>
        <p:txBody>
          <a:bodyPr/>
          <a:lstStyle>
            <a:lvl1pPr>
              <a:defRPr/>
            </a:lvl1pPr>
          </a:lstStyle>
          <a:p>
            <a:fld id="{D1610838-7400-411B-B689-2F6C35481D0C}" type="slidenum">
              <a:rPr lang="en-US" altLang="en-US"/>
              <a:pPr/>
              <a:t>‹#›</a:t>
            </a:fld>
            <a:endParaRPr lang="en-US" altLang="en-US"/>
          </a:p>
        </p:txBody>
      </p:sp>
    </p:spTree>
    <p:extLst>
      <p:ext uri="{BB962C8B-B14F-4D97-AF65-F5344CB8AC3E}">
        <p14:creationId xmlns:p14="http://schemas.microsoft.com/office/powerpoint/2010/main" val="166312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5B26A4A-8706-4957-968A-429659FA63B9}"/>
              </a:ext>
            </a:extLst>
          </p:cNvPr>
          <p:cNvSpPr>
            <a:spLocks noGrp="1"/>
          </p:cNvSpPr>
          <p:nvPr>
            <p:ph type="dt" sz="half" idx="10"/>
          </p:nvPr>
        </p:nvSpPr>
        <p:spPr/>
        <p:txBody>
          <a:bodyPr/>
          <a:lstStyle>
            <a:lvl1pPr>
              <a:defRPr/>
            </a:lvl1pPr>
          </a:lstStyle>
          <a:p>
            <a:pPr>
              <a:defRPr/>
            </a:pPr>
            <a:fld id="{76D890D1-ADAD-4367-ADA2-AFAFF9F81D11}" type="datetime1">
              <a:rPr lang="en-US"/>
              <a:pPr>
                <a:defRPr/>
              </a:pPr>
              <a:t>6/15/2026</a:t>
            </a:fld>
            <a:endParaRPr lang="en-US"/>
          </a:p>
        </p:txBody>
      </p:sp>
      <p:sp>
        <p:nvSpPr>
          <p:cNvPr id="6" name="Footer Placeholder 4">
            <a:extLst>
              <a:ext uri="{FF2B5EF4-FFF2-40B4-BE49-F238E27FC236}">
                <a16:creationId xmlns:a16="http://schemas.microsoft.com/office/drawing/2014/main" id="{10A2F1D4-1189-48DE-BA98-325CD9C257C4}"/>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C7986B66-2394-42B1-9BDE-35C177A62693}"/>
              </a:ext>
            </a:extLst>
          </p:cNvPr>
          <p:cNvSpPr>
            <a:spLocks noGrp="1"/>
          </p:cNvSpPr>
          <p:nvPr>
            <p:ph type="sldNum" sz="quarter" idx="12"/>
          </p:nvPr>
        </p:nvSpPr>
        <p:spPr/>
        <p:txBody>
          <a:bodyPr/>
          <a:lstStyle>
            <a:lvl1pPr>
              <a:defRPr/>
            </a:lvl1pPr>
          </a:lstStyle>
          <a:p>
            <a:fld id="{5FEEDBB8-2F2A-4E69-B4E6-C45A1A219323}" type="slidenum">
              <a:rPr lang="en-US" altLang="en-US"/>
              <a:pPr/>
              <a:t>‹#›</a:t>
            </a:fld>
            <a:endParaRPr lang="en-US" altLang="en-US"/>
          </a:p>
        </p:txBody>
      </p:sp>
    </p:spTree>
    <p:extLst>
      <p:ext uri="{BB962C8B-B14F-4D97-AF65-F5344CB8AC3E}">
        <p14:creationId xmlns:p14="http://schemas.microsoft.com/office/powerpoint/2010/main" val="395227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03A3A19-677F-46D0-8327-737A4396EFCE}"/>
              </a:ext>
            </a:extLst>
          </p:cNvPr>
          <p:cNvSpPr>
            <a:spLocks noGrp="1"/>
          </p:cNvSpPr>
          <p:nvPr>
            <p:ph type="dt" sz="half" idx="10"/>
          </p:nvPr>
        </p:nvSpPr>
        <p:spPr/>
        <p:txBody>
          <a:bodyPr/>
          <a:lstStyle>
            <a:lvl1pPr>
              <a:defRPr/>
            </a:lvl1pPr>
          </a:lstStyle>
          <a:p>
            <a:pPr>
              <a:defRPr/>
            </a:pPr>
            <a:fld id="{393651B4-9843-45AB-8E22-71543FB46DA2}" type="datetime1">
              <a:rPr lang="en-US"/>
              <a:pPr>
                <a:defRPr/>
              </a:pPr>
              <a:t>6/15/2026</a:t>
            </a:fld>
            <a:endParaRPr lang="en-US"/>
          </a:p>
        </p:txBody>
      </p:sp>
      <p:sp>
        <p:nvSpPr>
          <p:cNvPr id="6" name="Footer Placeholder 4">
            <a:extLst>
              <a:ext uri="{FF2B5EF4-FFF2-40B4-BE49-F238E27FC236}">
                <a16:creationId xmlns:a16="http://schemas.microsoft.com/office/drawing/2014/main" id="{EEC761C7-6D46-45C5-A06E-1C9467DF57EB}"/>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7" name="Slide Number Placeholder 5">
            <a:extLst>
              <a:ext uri="{FF2B5EF4-FFF2-40B4-BE49-F238E27FC236}">
                <a16:creationId xmlns:a16="http://schemas.microsoft.com/office/drawing/2014/main" id="{E25F70F5-D8D2-4E99-B0E5-DC927F25456F}"/>
              </a:ext>
            </a:extLst>
          </p:cNvPr>
          <p:cNvSpPr>
            <a:spLocks noGrp="1"/>
          </p:cNvSpPr>
          <p:nvPr>
            <p:ph type="sldNum" sz="quarter" idx="12"/>
          </p:nvPr>
        </p:nvSpPr>
        <p:spPr/>
        <p:txBody>
          <a:bodyPr/>
          <a:lstStyle>
            <a:lvl1pPr>
              <a:defRPr/>
            </a:lvl1pPr>
          </a:lstStyle>
          <a:p>
            <a:fld id="{46600780-8261-4F2C-8AB1-4FC7C46475CB}" type="slidenum">
              <a:rPr lang="en-US" altLang="en-US"/>
              <a:pPr/>
              <a:t>‹#›</a:t>
            </a:fld>
            <a:endParaRPr lang="en-US" altLang="en-US"/>
          </a:p>
        </p:txBody>
      </p:sp>
    </p:spTree>
    <p:extLst>
      <p:ext uri="{BB962C8B-B14F-4D97-AF65-F5344CB8AC3E}">
        <p14:creationId xmlns:p14="http://schemas.microsoft.com/office/powerpoint/2010/main" val="1084317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78DC88-AE01-4CAA-9020-B90D8607B756}"/>
              </a:ext>
            </a:extLst>
          </p:cNvPr>
          <p:cNvSpPr>
            <a:spLocks noGrp="1"/>
          </p:cNvSpPr>
          <p:nvPr>
            <p:ph type="dt" sz="half" idx="10"/>
          </p:nvPr>
        </p:nvSpPr>
        <p:spPr/>
        <p:txBody>
          <a:bodyPr/>
          <a:lstStyle>
            <a:lvl1pPr>
              <a:defRPr/>
            </a:lvl1pPr>
          </a:lstStyle>
          <a:p>
            <a:pPr>
              <a:defRPr/>
            </a:pPr>
            <a:fld id="{4394FE15-DD9A-40C6-9AF8-2CF0E2DC9FED}" type="datetime1">
              <a:rPr lang="en-US"/>
              <a:pPr>
                <a:defRPr/>
              </a:pPr>
              <a:t>6/15/2026</a:t>
            </a:fld>
            <a:endParaRPr lang="en-US"/>
          </a:p>
        </p:txBody>
      </p:sp>
      <p:sp>
        <p:nvSpPr>
          <p:cNvPr id="5" name="Footer Placeholder 4">
            <a:extLst>
              <a:ext uri="{FF2B5EF4-FFF2-40B4-BE49-F238E27FC236}">
                <a16:creationId xmlns:a16="http://schemas.microsoft.com/office/drawing/2014/main" id="{25D2C5CF-6CAA-4307-B6A8-DF54D826BCCE}"/>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724552A0-9D79-48E4-B25F-688BC1867D0D}"/>
              </a:ext>
            </a:extLst>
          </p:cNvPr>
          <p:cNvSpPr>
            <a:spLocks noGrp="1"/>
          </p:cNvSpPr>
          <p:nvPr>
            <p:ph type="sldNum" sz="quarter" idx="12"/>
          </p:nvPr>
        </p:nvSpPr>
        <p:spPr/>
        <p:txBody>
          <a:bodyPr/>
          <a:lstStyle>
            <a:lvl1pPr>
              <a:defRPr/>
            </a:lvl1pPr>
          </a:lstStyle>
          <a:p>
            <a:fld id="{2A26A04B-D0EF-4595-87CA-07FE647A1A75}" type="slidenum">
              <a:rPr lang="en-US" altLang="en-US"/>
              <a:pPr/>
              <a:t>‹#›</a:t>
            </a:fld>
            <a:endParaRPr lang="en-US" altLang="en-US"/>
          </a:p>
        </p:txBody>
      </p:sp>
    </p:spTree>
    <p:extLst>
      <p:ext uri="{BB962C8B-B14F-4D97-AF65-F5344CB8AC3E}">
        <p14:creationId xmlns:p14="http://schemas.microsoft.com/office/powerpoint/2010/main" val="970099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B76813-D725-49F2-945C-CCAB9D2A95D0}"/>
              </a:ext>
            </a:extLst>
          </p:cNvPr>
          <p:cNvSpPr>
            <a:spLocks noGrp="1"/>
          </p:cNvSpPr>
          <p:nvPr>
            <p:ph type="dt" sz="half" idx="10"/>
          </p:nvPr>
        </p:nvSpPr>
        <p:spPr/>
        <p:txBody>
          <a:bodyPr/>
          <a:lstStyle>
            <a:lvl1pPr>
              <a:defRPr/>
            </a:lvl1pPr>
          </a:lstStyle>
          <a:p>
            <a:pPr>
              <a:defRPr/>
            </a:pPr>
            <a:fld id="{370FD5AE-DF06-40E8-B10A-A7E8871D9706}" type="datetime1">
              <a:rPr lang="en-US"/>
              <a:pPr>
                <a:defRPr/>
              </a:pPr>
              <a:t>6/15/2026</a:t>
            </a:fld>
            <a:endParaRPr lang="en-US"/>
          </a:p>
        </p:txBody>
      </p:sp>
      <p:sp>
        <p:nvSpPr>
          <p:cNvPr id="5" name="Footer Placeholder 4">
            <a:extLst>
              <a:ext uri="{FF2B5EF4-FFF2-40B4-BE49-F238E27FC236}">
                <a16:creationId xmlns:a16="http://schemas.microsoft.com/office/drawing/2014/main" id="{041B94B4-C37D-4CF1-B803-70ECE9F98043}"/>
              </a:ext>
            </a:extLst>
          </p:cNvPr>
          <p:cNvSpPr>
            <a:spLocks noGrp="1"/>
          </p:cNvSpPr>
          <p:nvPr>
            <p:ph type="ftr" sz="quarter" idx="11"/>
          </p:nvPr>
        </p:nvSpPr>
        <p:spPr/>
        <p:txBody>
          <a:bodyPr/>
          <a:lstStyle>
            <a:lvl1pPr>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84CB5775-0DF8-430A-981E-D9F890F1E727}"/>
              </a:ext>
            </a:extLst>
          </p:cNvPr>
          <p:cNvSpPr>
            <a:spLocks noGrp="1"/>
          </p:cNvSpPr>
          <p:nvPr>
            <p:ph type="sldNum" sz="quarter" idx="12"/>
          </p:nvPr>
        </p:nvSpPr>
        <p:spPr/>
        <p:txBody>
          <a:bodyPr/>
          <a:lstStyle>
            <a:lvl1pPr>
              <a:defRPr/>
            </a:lvl1pPr>
          </a:lstStyle>
          <a:p>
            <a:fld id="{79B4311E-D5F2-40A4-B2D6-DDC2AFD86103}" type="slidenum">
              <a:rPr lang="en-US" altLang="en-US"/>
              <a:pPr/>
              <a:t>‹#›</a:t>
            </a:fld>
            <a:endParaRPr lang="en-US" altLang="en-US"/>
          </a:p>
        </p:txBody>
      </p:sp>
    </p:spTree>
    <p:extLst>
      <p:ext uri="{BB962C8B-B14F-4D97-AF65-F5344CB8AC3E}">
        <p14:creationId xmlns:p14="http://schemas.microsoft.com/office/powerpoint/2010/main" val="1656422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BFDCBFCD-ADA5-49D9-8EC2-C25B2ED55BC0}"/>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11E7B0C-3D44-4CB9-82E9-732D3B5E65E2}"/>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B830E18-6B0F-4561-A8EC-664E8249DE82}"/>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06A74232-FC8A-49F8-80E8-B50A0BA80DF4}" type="datetime1">
              <a:rPr lang="en-US"/>
              <a:pPr>
                <a:defRPr/>
              </a:pPr>
              <a:t>6/15/2026</a:t>
            </a:fld>
            <a:endParaRPr lang="en-US"/>
          </a:p>
        </p:txBody>
      </p:sp>
      <p:sp>
        <p:nvSpPr>
          <p:cNvPr id="5" name="Footer Placeholder 4">
            <a:extLst>
              <a:ext uri="{FF2B5EF4-FFF2-40B4-BE49-F238E27FC236}">
                <a16:creationId xmlns:a16="http://schemas.microsoft.com/office/drawing/2014/main" id="{2A8380AF-395F-446F-B527-ECA9916A961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smtClean="0">
                <a:solidFill>
                  <a:schemeClr val="tx1">
                    <a:tint val="75000"/>
                  </a:schemeClr>
                </a:solidFill>
                <a:latin typeface="+mn-lt"/>
                <a:cs typeface="+mn-cs"/>
              </a:defRPr>
            </a:lvl1pPr>
          </a:lstStyle>
          <a:p>
            <a:pPr>
              <a:defRPr/>
            </a:pPr>
            <a:r>
              <a:rPr lang="en-US"/>
              <a:t>DEPARTMENT OF CSE MINI PROJECT REVIEW-1</a:t>
            </a:r>
          </a:p>
        </p:txBody>
      </p:sp>
      <p:sp>
        <p:nvSpPr>
          <p:cNvPr id="6" name="Slide Number Placeholder 5">
            <a:extLst>
              <a:ext uri="{FF2B5EF4-FFF2-40B4-BE49-F238E27FC236}">
                <a16:creationId xmlns:a16="http://schemas.microsoft.com/office/drawing/2014/main" id="{2E7C784E-7B42-4220-A301-963093C40A64}"/>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1E04AAF9-47BF-4F68-B79A-2D00C1CD1B6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7133BE8-A87E-4DBC-98E8-2FD6622AA548}"/>
              </a:ext>
            </a:extLst>
          </p:cNvPr>
          <p:cNvSpPr txBox="1">
            <a:spLocks/>
          </p:cNvSpPr>
          <p:nvPr/>
        </p:nvSpPr>
        <p:spPr>
          <a:xfrm>
            <a:off x="152400" y="177230"/>
            <a:ext cx="8839200" cy="6477000"/>
          </a:xfrm>
          <a:prstGeom prst="rect">
            <a:avLst/>
          </a:prstGeo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chor="ctr">
            <a:normAutofit/>
          </a:bodyPr>
          <a:lstStyle/>
          <a:p>
            <a:pPr algn="ctr" fontAlgn="auto">
              <a:spcAft>
                <a:spcPts val="0"/>
              </a:spcAft>
              <a:defRPr/>
            </a:pPr>
            <a:endParaRPr lang="en-US" sz="4400" dirty="0">
              <a:solidFill>
                <a:schemeClr val="tx1"/>
              </a:solidFill>
              <a:latin typeface="+mj-lt"/>
              <a:ea typeface="+mj-ea"/>
              <a:cs typeface="+mj-cs"/>
            </a:endParaRPr>
          </a:p>
        </p:txBody>
      </p:sp>
      <p:sp>
        <p:nvSpPr>
          <p:cNvPr id="2" name="Title 1">
            <a:extLst>
              <a:ext uri="{FF2B5EF4-FFF2-40B4-BE49-F238E27FC236}">
                <a16:creationId xmlns:a16="http://schemas.microsoft.com/office/drawing/2014/main" id="{D9B2990C-D7A3-4312-BBC7-CC2452B79ECF}"/>
              </a:ext>
            </a:extLst>
          </p:cNvPr>
          <p:cNvSpPr>
            <a:spLocks noGrp="1"/>
          </p:cNvSpPr>
          <p:nvPr>
            <p:ph type="ctrTitle"/>
          </p:nvPr>
        </p:nvSpPr>
        <p:spPr>
          <a:xfrm>
            <a:off x="920869" y="913787"/>
            <a:ext cx="7315200" cy="838200"/>
          </a:xfrm>
        </p:spPr>
        <p:txBody>
          <a:bodyPr rtlCol="0">
            <a:normAutofit fontScale="90000"/>
          </a:bodyPr>
          <a:lstStyle/>
          <a:p>
            <a:pPr fontAlgn="auto">
              <a:spcAft>
                <a:spcPts val="0"/>
              </a:spcAft>
              <a:defRPr/>
            </a:pPr>
            <a:r>
              <a:rPr lang="en-US" sz="3600" b="1" dirty="0"/>
              <a:t>   </a:t>
            </a:r>
            <a:br>
              <a:rPr lang="en-US" sz="2400" dirty="0"/>
            </a:br>
            <a:r>
              <a:rPr lang="en-US" sz="2400" b="1" dirty="0">
                <a:solidFill>
                  <a:srgbClr val="FF0000"/>
                </a:solidFill>
              </a:rPr>
              <a:t>DEPARTMENT OF COMPUTER SCIENCE AND ENGINEERING </a:t>
            </a:r>
            <a:br>
              <a:rPr lang="en-US" sz="2400" b="1" dirty="0"/>
            </a:br>
            <a:endParaRPr lang="en-US" sz="3600" b="1" dirty="0"/>
          </a:p>
        </p:txBody>
      </p:sp>
      <p:sp>
        <p:nvSpPr>
          <p:cNvPr id="7" name="Subtitle 2">
            <a:extLst>
              <a:ext uri="{FF2B5EF4-FFF2-40B4-BE49-F238E27FC236}">
                <a16:creationId xmlns:a16="http://schemas.microsoft.com/office/drawing/2014/main" id="{81E9BB19-E97E-45D3-BB72-E34CC7BF07BD}"/>
              </a:ext>
            </a:extLst>
          </p:cNvPr>
          <p:cNvSpPr txBox="1">
            <a:spLocks/>
          </p:cNvSpPr>
          <p:nvPr/>
        </p:nvSpPr>
        <p:spPr>
          <a:xfrm>
            <a:off x="228600" y="5181600"/>
            <a:ext cx="8686800" cy="1371600"/>
          </a:xfrm>
          <a:prstGeom prst="rect">
            <a:avLst/>
          </a:prstGeom>
          <a:ln>
            <a:solidFill>
              <a:schemeClr val="accent1">
                <a:lumMod val="75000"/>
              </a:schemeClr>
            </a:solidFill>
          </a:ln>
        </p:spPr>
        <p:style>
          <a:lnRef idx="2">
            <a:schemeClr val="accent2"/>
          </a:lnRef>
          <a:fillRef idx="1">
            <a:schemeClr val="lt1"/>
          </a:fillRef>
          <a:effectRef idx="0">
            <a:schemeClr val="accent2"/>
          </a:effectRef>
          <a:fontRef idx="minor">
            <a:schemeClr val="dk1"/>
          </a:fontRef>
        </p:style>
        <p:txBody>
          <a:bodyPr lIns="91440" tIns="45720" rIns="91440" bIns="45720" anchor="t">
            <a:normAutofit fontScale="77500" lnSpcReduction="20000"/>
          </a:bodyPr>
          <a:lstStyle/>
          <a:p>
            <a:pPr algn="ctr" fontAlgn="auto">
              <a:spcBef>
                <a:spcPct val="20000"/>
              </a:spcBef>
              <a:spcAft>
                <a:spcPts val="0"/>
              </a:spcAft>
              <a:buFont typeface="Arial" pitchFamily="34" charset="0"/>
              <a:buNone/>
              <a:defRPr/>
            </a:pPr>
            <a:r>
              <a:rPr lang="en-US" sz="3300" b="1" u="sng" dirty="0">
                <a:solidFill>
                  <a:srgbClr val="FF0000"/>
                </a:solidFill>
              </a:rPr>
              <a:t>Guide Details</a:t>
            </a:r>
          </a:p>
          <a:p>
            <a:pPr algn="ctr" fontAlgn="auto">
              <a:spcBef>
                <a:spcPct val="20000"/>
              </a:spcBef>
              <a:spcAft>
                <a:spcPts val="0"/>
              </a:spcAft>
              <a:defRPr/>
            </a:pPr>
            <a:r>
              <a:rPr lang="en-US" sz="3000" b="1" dirty="0">
                <a:solidFill>
                  <a:srgbClr val="002060"/>
                </a:solidFill>
              </a:rPr>
              <a:t>Dr. V. Mohan</a:t>
            </a:r>
            <a:endParaRPr lang="en-US" sz="3000" b="1" dirty="0">
              <a:solidFill>
                <a:srgbClr val="002060"/>
              </a:solidFill>
              <a:cs typeface="Calibri"/>
            </a:endParaRPr>
          </a:p>
          <a:p>
            <a:pPr algn="ctr" fontAlgn="auto">
              <a:spcBef>
                <a:spcPct val="20000"/>
              </a:spcBef>
              <a:spcAft>
                <a:spcPts val="0"/>
              </a:spcAft>
              <a:defRPr/>
            </a:pPr>
            <a:r>
              <a:rPr lang="en-US" sz="2200" b="1" dirty="0">
                <a:solidFill>
                  <a:srgbClr val="002060"/>
                </a:solidFill>
              </a:rPr>
              <a:t>Assistant Professor </a:t>
            </a:r>
          </a:p>
          <a:p>
            <a:pPr algn="ctr" fontAlgn="auto">
              <a:spcBef>
                <a:spcPct val="20000"/>
              </a:spcBef>
              <a:spcAft>
                <a:spcPts val="0"/>
              </a:spcAft>
              <a:defRPr/>
            </a:pPr>
            <a:r>
              <a:rPr lang="en-US" sz="2200" b="1" dirty="0">
                <a:solidFill>
                  <a:srgbClr val="002060"/>
                </a:solidFill>
              </a:rPr>
              <a:t>Department of CSE</a:t>
            </a:r>
          </a:p>
          <a:p>
            <a:pPr algn="ctr" fontAlgn="auto">
              <a:spcBef>
                <a:spcPct val="20000"/>
              </a:spcBef>
              <a:spcAft>
                <a:spcPts val="0"/>
              </a:spcAft>
              <a:buFont typeface="Arial" pitchFamily="34" charset="0"/>
              <a:buNone/>
              <a:defRPr/>
            </a:pPr>
            <a:endParaRPr lang="en-US" sz="1600" b="1" dirty="0">
              <a:solidFill>
                <a:srgbClr val="002060"/>
              </a:solidFill>
            </a:endParaRPr>
          </a:p>
          <a:p>
            <a:pPr fontAlgn="auto">
              <a:spcBef>
                <a:spcPct val="20000"/>
              </a:spcBef>
              <a:spcAft>
                <a:spcPts val="0"/>
              </a:spcAft>
              <a:buFont typeface="Arial" pitchFamily="34" charset="0"/>
              <a:buNone/>
              <a:defRPr/>
            </a:pPr>
            <a:endParaRPr lang="en-US" sz="3200" dirty="0">
              <a:solidFill>
                <a:schemeClr val="tx1">
                  <a:tint val="75000"/>
                </a:schemeClr>
              </a:solidFill>
            </a:endParaRPr>
          </a:p>
        </p:txBody>
      </p:sp>
      <p:sp>
        <p:nvSpPr>
          <p:cNvPr id="9" name="Title 1">
            <a:extLst>
              <a:ext uri="{FF2B5EF4-FFF2-40B4-BE49-F238E27FC236}">
                <a16:creationId xmlns:a16="http://schemas.microsoft.com/office/drawing/2014/main" id="{C3034EB3-E5B7-485E-984F-A0E903E0E9A7}"/>
              </a:ext>
            </a:extLst>
          </p:cNvPr>
          <p:cNvSpPr txBox="1">
            <a:spLocks/>
          </p:cNvSpPr>
          <p:nvPr/>
        </p:nvSpPr>
        <p:spPr>
          <a:xfrm>
            <a:off x="2743200" y="2286000"/>
            <a:ext cx="3657600" cy="533400"/>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anchor="ctr">
            <a:normAutofit/>
          </a:bodyPr>
          <a:lstStyle/>
          <a:p>
            <a:pPr algn="ctr" fontAlgn="auto">
              <a:spcAft>
                <a:spcPts val="0"/>
              </a:spcAft>
              <a:defRPr/>
            </a:pPr>
            <a:r>
              <a:rPr lang="en-US" sz="2400" b="1" dirty="0">
                <a:solidFill>
                  <a:schemeClr val="tx1"/>
                </a:solidFill>
                <a:latin typeface="+mj-lt"/>
                <a:ea typeface="+mj-ea"/>
                <a:cs typeface="+mj-cs"/>
              </a:rPr>
              <a:t>BATCH ID : 23MPCS-H11</a:t>
            </a:r>
          </a:p>
        </p:txBody>
      </p:sp>
      <p:sp>
        <p:nvSpPr>
          <p:cNvPr id="10" name="Title 1">
            <a:extLst>
              <a:ext uri="{FF2B5EF4-FFF2-40B4-BE49-F238E27FC236}">
                <a16:creationId xmlns:a16="http://schemas.microsoft.com/office/drawing/2014/main" id="{EB366ABC-1782-4359-A4C5-6579CEFE1A4B}"/>
              </a:ext>
            </a:extLst>
          </p:cNvPr>
          <p:cNvSpPr txBox="1">
            <a:spLocks/>
          </p:cNvSpPr>
          <p:nvPr/>
        </p:nvSpPr>
        <p:spPr>
          <a:xfrm>
            <a:off x="304800" y="1524000"/>
            <a:ext cx="8610600" cy="609600"/>
          </a:xfrm>
          <a:prstGeom prst="rect">
            <a:avLst/>
          </a:prstGeom>
          <a:solidFill>
            <a:schemeClr val="accent1">
              <a:lumMod val="40000"/>
              <a:lumOff val="60000"/>
            </a:schemeClr>
          </a:solidFill>
          <a:ln>
            <a:solidFill>
              <a:schemeClr val="accent1">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91440" tIns="45720" rIns="91440" bIns="45720" anchor="ctr">
            <a:normAutofit fontScale="85000" lnSpcReduction="10000"/>
          </a:bodyPr>
          <a:lstStyle/>
          <a:p>
            <a:pPr algn="ctr" fontAlgn="auto">
              <a:spcAft>
                <a:spcPts val="0"/>
              </a:spcAft>
              <a:defRPr/>
            </a:pPr>
            <a:r>
              <a:rPr lang="en-US" sz="2800" b="1" dirty="0">
                <a:solidFill>
                  <a:schemeClr val="tx1"/>
                </a:solidFill>
                <a:latin typeface="+mj-lt"/>
                <a:ea typeface="+mj-ea"/>
                <a:cs typeface="+mj-cs"/>
              </a:rPr>
              <a:t>Title: Academic Records Validator Using Blockchain Technology</a:t>
            </a:r>
          </a:p>
        </p:txBody>
      </p:sp>
      <p:graphicFrame>
        <p:nvGraphicFramePr>
          <p:cNvPr id="12" name="Table 11">
            <a:extLst>
              <a:ext uri="{FF2B5EF4-FFF2-40B4-BE49-F238E27FC236}">
                <a16:creationId xmlns:a16="http://schemas.microsoft.com/office/drawing/2014/main" id="{4B4BF96B-13BF-42E1-B330-96082705FEC5}"/>
              </a:ext>
            </a:extLst>
          </p:cNvPr>
          <p:cNvGraphicFramePr>
            <a:graphicFrameLocks noGrp="1"/>
          </p:cNvGraphicFramePr>
          <p:nvPr>
            <p:extLst>
              <p:ext uri="{D42A27DB-BD31-4B8C-83A1-F6EECF244321}">
                <p14:modId xmlns:p14="http://schemas.microsoft.com/office/powerpoint/2010/main" val="4146059598"/>
              </p:ext>
            </p:extLst>
          </p:nvPr>
        </p:nvGraphicFramePr>
        <p:xfrm>
          <a:off x="1219200" y="2971800"/>
          <a:ext cx="6934200" cy="1584960"/>
        </p:xfrm>
        <a:graphic>
          <a:graphicData uri="http://schemas.openxmlformats.org/drawingml/2006/table">
            <a:tbl>
              <a:tblPr firstRow="1" bandRow="1">
                <a:tableStyleId>{00A15C55-8517-42AA-B614-E9B94910E393}</a:tableStyleId>
              </a:tblPr>
              <a:tblGrid>
                <a:gridCol w="780098">
                  <a:extLst>
                    <a:ext uri="{9D8B030D-6E8A-4147-A177-3AD203B41FA5}">
                      <a16:colId xmlns:a16="http://schemas.microsoft.com/office/drawing/2014/main" val="20000"/>
                    </a:ext>
                  </a:extLst>
                </a:gridCol>
                <a:gridCol w="1839489">
                  <a:extLst>
                    <a:ext uri="{9D8B030D-6E8A-4147-A177-3AD203B41FA5}">
                      <a16:colId xmlns:a16="http://schemas.microsoft.com/office/drawing/2014/main" val="20001"/>
                    </a:ext>
                  </a:extLst>
                </a:gridCol>
                <a:gridCol w="4314613">
                  <a:extLst>
                    <a:ext uri="{9D8B030D-6E8A-4147-A177-3AD203B41FA5}">
                      <a16:colId xmlns:a16="http://schemas.microsoft.com/office/drawing/2014/main" val="20002"/>
                    </a:ext>
                  </a:extLst>
                </a:gridCol>
              </a:tblGrid>
              <a:tr h="370840">
                <a:tc>
                  <a:txBody>
                    <a:bodyPr/>
                    <a:lstStyle/>
                    <a:p>
                      <a:pPr algn="ctr"/>
                      <a:r>
                        <a:rPr lang="en-US" sz="2000" b="1" dirty="0"/>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Roll.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000" b="1" dirty="0"/>
                        <a:t>Student 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ctr"/>
                      <a:r>
                        <a:rPr lang="en-US" sz="20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23881A05FH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G.YASHASWINI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ctr"/>
                      <a:r>
                        <a:rPr lang="en-US" sz="20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23881A05FU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K. TRIVIKRAM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n-US" sz="2000" b="1"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defRPr sz="1800"/>
                      </a:pPr>
                      <a:r>
                        <a:rPr lang="en-US" sz="2000" dirty="0"/>
                        <a:t>23881A05GF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N.LAALU NAIK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3" name="Picture 2">
            <a:extLst>
              <a:ext uri="{FF2B5EF4-FFF2-40B4-BE49-F238E27FC236}">
                <a16:creationId xmlns:a16="http://schemas.microsoft.com/office/drawing/2014/main" id="{7C380515-DA03-C63F-7DAB-FBAD305F3C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24114" y="267313"/>
            <a:ext cx="1244394" cy="9518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3BCD6-0BDF-480C-A0B6-637D78994FE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spcAft>
                <a:spcPts val="0"/>
              </a:spcAft>
              <a:defRPr/>
            </a:pPr>
            <a:r>
              <a:rPr lang="en-US" sz="3200" b="1" dirty="0">
                <a:solidFill>
                  <a:schemeClr val="accent2">
                    <a:lumMod val="75000"/>
                  </a:schemeClr>
                </a:solidFill>
              </a:rPr>
              <a:t>Mini Project Outlines</a:t>
            </a:r>
          </a:p>
        </p:txBody>
      </p:sp>
      <p:sp>
        <p:nvSpPr>
          <p:cNvPr id="3" name="Content Placeholder 2">
            <a:extLst>
              <a:ext uri="{FF2B5EF4-FFF2-40B4-BE49-F238E27FC236}">
                <a16:creationId xmlns:a16="http://schemas.microsoft.com/office/drawing/2014/main" id="{9B0F8B19-D2C3-436D-A49D-CAD348F238EB}"/>
              </a:ext>
            </a:extLst>
          </p:cNvPr>
          <p:cNvSpPr>
            <a:spLocks noGrp="1"/>
          </p:cNvSpPr>
          <p:nvPr>
            <p:ph idx="1"/>
          </p:nvPr>
        </p:nvSpPr>
        <p:spPr>
          <a:xfrm>
            <a:off x="228600" y="1014413"/>
            <a:ext cx="8763000" cy="5614987"/>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Autofit/>
          </a:bodyPr>
          <a:lstStyle/>
          <a:p>
            <a:pPr fontAlgn="auto">
              <a:lnSpc>
                <a:spcPct val="110000"/>
              </a:lnSpc>
              <a:spcBef>
                <a:spcPts val="1200"/>
              </a:spcBef>
              <a:spcAft>
                <a:spcPts val="0"/>
              </a:spcAft>
              <a:defRPr/>
            </a:pPr>
            <a:r>
              <a:rPr lang="en-US" sz="1800" b="1" dirty="0">
                <a:ea typeface="+mn-lt"/>
                <a:cs typeface="+mn-lt"/>
              </a:rPr>
              <a:t>Introduction</a:t>
            </a:r>
            <a:endParaRPr lang="en-US" sz="1800" dirty="0">
              <a:ea typeface="+mn-lt"/>
              <a:cs typeface="+mn-lt"/>
            </a:endParaRPr>
          </a:p>
          <a:p>
            <a:pPr>
              <a:lnSpc>
                <a:spcPct val="110000"/>
              </a:lnSpc>
              <a:spcBef>
                <a:spcPts val="1200"/>
              </a:spcBef>
              <a:spcAft>
                <a:spcPts val="0"/>
              </a:spcAft>
              <a:defRPr/>
            </a:pPr>
            <a:r>
              <a:rPr lang="en-US" sz="1800" b="1" dirty="0">
                <a:ea typeface="+mn-lt"/>
                <a:cs typeface="+mn-lt"/>
              </a:rPr>
              <a:t>Existing System Vs Proposed </a:t>
            </a:r>
          </a:p>
          <a:p>
            <a:pPr>
              <a:lnSpc>
                <a:spcPct val="110000"/>
              </a:lnSpc>
              <a:spcBef>
                <a:spcPts val="1200"/>
              </a:spcBef>
              <a:spcAft>
                <a:spcPts val="0"/>
              </a:spcAft>
              <a:defRPr/>
            </a:pPr>
            <a:r>
              <a:rPr lang="en-US" sz="1800" b="1" dirty="0">
                <a:ea typeface="+mn-lt"/>
                <a:cs typeface="+mn-lt"/>
              </a:rPr>
              <a:t>Research Gaps </a:t>
            </a:r>
          </a:p>
          <a:p>
            <a:pPr>
              <a:lnSpc>
                <a:spcPct val="110000"/>
              </a:lnSpc>
              <a:spcBef>
                <a:spcPts val="1200"/>
              </a:spcBef>
              <a:spcAft>
                <a:spcPts val="0"/>
              </a:spcAft>
              <a:defRPr/>
            </a:pPr>
            <a:r>
              <a:rPr lang="en-US" sz="1800" b="1" dirty="0">
                <a:ea typeface="+mn-lt"/>
                <a:cs typeface="+mn-lt"/>
              </a:rPr>
              <a:t>Problem Statement</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Objectives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Proposed Project Outcomes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Software and Hardware Requirements</a:t>
            </a:r>
            <a:endParaRPr lang="en-US" sz="1800" dirty="0">
              <a:ea typeface="+mn-lt"/>
              <a:cs typeface="+mn-lt"/>
            </a:endParaRPr>
          </a:p>
          <a:p>
            <a:pPr>
              <a:lnSpc>
                <a:spcPct val="110000"/>
              </a:lnSpc>
              <a:spcBef>
                <a:spcPts val="1200"/>
              </a:spcBef>
              <a:spcAft>
                <a:spcPts val="0"/>
              </a:spcAft>
              <a:defRPr/>
            </a:pPr>
            <a:r>
              <a:rPr lang="en-US" sz="1800" b="1" dirty="0">
                <a:ea typeface="+mn-lt"/>
                <a:cs typeface="+mn-lt"/>
              </a:rPr>
              <a:t>Architectural Diagram</a:t>
            </a:r>
            <a:endParaRPr lang="en-US" sz="1800" dirty="0">
              <a:ea typeface="+mn-lt"/>
              <a:cs typeface="+mn-lt"/>
            </a:endParaRPr>
          </a:p>
          <a:p>
            <a:pPr>
              <a:lnSpc>
                <a:spcPct val="110000"/>
              </a:lnSpc>
              <a:spcBef>
                <a:spcPts val="1200"/>
              </a:spcBef>
              <a:spcAft>
                <a:spcPts val="0"/>
              </a:spcAft>
              <a:buFont typeface="Arial,Sans-Serif" panose="020B0604020202020204" pitchFamily="34" charset="0"/>
              <a:defRPr/>
            </a:pPr>
            <a:r>
              <a:rPr lang="en-US" sz="1800" b="1" dirty="0">
                <a:ea typeface="+mn-lt"/>
                <a:cs typeface="+mn-lt"/>
              </a:rPr>
              <a:t>Proposed Methods and Algorithms </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Results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Research Paper (Acceptance Proofs)</a:t>
            </a:r>
          </a:p>
          <a:p>
            <a:pPr>
              <a:lnSpc>
                <a:spcPct val="110000"/>
              </a:lnSpc>
              <a:spcBef>
                <a:spcPts val="1200"/>
              </a:spcBef>
              <a:spcAft>
                <a:spcPts val="0"/>
              </a:spcAft>
              <a:buFont typeface="Arial,Sans-Serif" panose="020B0604020202020204" pitchFamily="34" charset="0"/>
              <a:defRPr/>
            </a:pPr>
            <a:r>
              <a:rPr lang="en-US" sz="1800" b="1" dirty="0">
                <a:ea typeface="+mn-lt"/>
                <a:cs typeface="+mn-lt"/>
              </a:rPr>
              <a:t>Conclusion</a:t>
            </a: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a:p>
            <a:pPr fontAlgn="auto">
              <a:spcAft>
                <a:spcPts val="0"/>
              </a:spcAft>
              <a:defRPr/>
            </a:pPr>
            <a:endParaRPr lang="en-US" sz="1100" dirty="0"/>
          </a:p>
        </p:txBody>
      </p:sp>
      <p:sp>
        <p:nvSpPr>
          <p:cNvPr id="5" name="Slide Number Placeholder 4">
            <a:extLst>
              <a:ext uri="{FF2B5EF4-FFF2-40B4-BE49-F238E27FC236}">
                <a16:creationId xmlns:a16="http://schemas.microsoft.com/office/drawing/2014/main" id="{A1A625E3-5C6C-47E5-A216-96E946FCDCF9}"/>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3DC7A18A-CF2F-40C0-9C89-65D9A71130B3}" type="slidenum">
              <a:rPr lang="en-US" altLang="en-US">
                <a:solidFill>
                  <a:srgbClr val="898989"/>
                </a:solidFill>
              </a:rPr>
              <a:pPr/>
              <a:t>2</a:t>
            </a:fld>
            <a:endParaRPr lang="en-US" altLang="en-US">
              <a:solidFill>
                <a:srgbClr val="898989"/>
              </a:solidFill>
            </a:endParaRPr>
          </a:p>
        </p:txBody>
      </p:sp>
      <p:pic>
        <p:nvPicPr>
          <p:cNvPr id="4" name="Picture 3">
            <a:extLst>
              <a:ext uri="{FF2B5EF4-FFF2-40B4-BE49-F238E27FC236}">
                <a16:creationId xmlns:a16="http://schemas.microsoft.com/office/drawing/2014/main" id="{1CFCE242-E21F-4D18-A237-B7CA4E6562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 MINI PROJECT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linds(horizontal)">
                                      <p:cBhvr>
                                        <p:cTn id="7" dur="500"/>
                                        <p:tgtEl>
                                          <p:spTgt spid="3">
                                            <p:txEl>
                                              <p:pRg st="4" end="4"/>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linds(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linds(horizontal)">
                                      <p:cBhvr>
                                        <p:cTn id="27" dur="500"/>
                                        <p:tgtEl>
                                          <p:spTgt spid="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linds(horizont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linds(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linds(horizontal)">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linds(horizontal)">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linds(horizontal)">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linds(horizontal)">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FFB9-D3CC-44A9-9FC7-C2A67668EBD8}"/>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Introduction</a:t>
            </a:r>
          </a:p>
        </p:txBody>
      </p:sp>
      <p:sp>
        <p:nvSpPr>
          <p:cNvPr id="3" name="Content Placeholder 2">
            <a:extLst>
              <a:ext uri="{FF2B5EF4-FFF2-40B4-BE49-F238E27FC236}">
                <a16:creationId xmlns:a16="http://schemas.microsoft.com/office/drawing/2014/main" id="{A815A160-9E89-4EFA-87F2-5AD9612AF7E2}"/>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fontAlgn="auto">
              <a:spcAft>
                <a:spcPts val="0"/>
              </a:spcAft>
              <a:defRPr/>
            </a:pPr>
            <a:r>
              <a:rPr lang="en-US" sz="1800" dirty="0"/>
              <a:t>In today’s digital world, verifying academic certificates is essential for education and employment, but the rise of fake certificates has made this process challenging. Traditional verification methods are often manual, slow, and unreliable.</a:t>
            </a:r>
            <a:endParaRPr lang="en-US" sz="1800" dirty="0">
              <a:cs typeface="Calibri"/>
            </a:endParaRPr>
          </a:p>
          <a:p>
            <a:pPr fontAlgn="auto">
              <a:spcAft>
                <a:spcPts val="0"/>
              </a:spcAft>
              <a:defRPr/>
            </a:pPr>
            <a:r>
              <a:rPr lang="en-US" sz="1800" dirty="0"/>
              <a:t>The </a:t>
            </a:r>
            <a:r>
              <a:rPr lang="en-US" sz="1800" b="1" dirty="0"/>
              <a:t>Academic Records Validator</a:t>
            </a:r>
            <a:r>
              <a:rPr lang="en-US" sz="1800" dirty="0"/>
              <a:t> is designed to provide a secure and automated solution for validating multiple academic documents such as 10th, Intermediate, and Degree certificates. The system uses technologies like OCR to extract certificate details, generates a unique hash using SHA-256, and stores it on a blockchain to ensure data integrity.</a:t>
            </a:r>
          </a:p>
          <a:p>
            <a:pPr fontAlgn="auto">
              <a:spcAft>
                <a:spcPts val="0"/>
              </a:spcAft>
              <a:defRPr/>
            </a:pPr>
            <a:r>
              <a:rPr lang="en-US" sz="1800" dirty="0"/>
              <a:t>During verification, the system compares the regenerated hash with the stored blockchain record to determine authenticity. This approach makes the process faster, more reliable, and resistant to tampering, helping institutions and organizations detect fraudulent certificates efficiently.</a:t>
            </a:r>
          </a:p>
          <a:p>
            <a:pPr fontAlgn="auto">
              <a:spcAft>
                <a:spcPts val="0"/>
              </a:spcAft>
              <a:defRPr/>
            </a:pPr>
            <a:r>
              <a:rPr lang="en-US" sz="1800" dirty="0"/>
              <a:t>This project aims to provide a reliable, automated, and scalable solution that reduces verification time, minimizes fraud, and enhances trust in academic credential systems. It is particularly useful for universities, employers, and verification agencies seeking a secure and efficient validation process.</a:t>
            </a:r>
          </a:p>
        </p:txBody>
      </p:sp>
      <p:sp>
        <p:nvSpPr>
          <p:cNvPr id="5" name="Slide Number Placeholder 4">
            <a:extLst>
              <a:ext uri="{FF2B5EF4-FFF2-40B4-BE49-F238E27FC236}">
                <a16:creationId xmlns:a16="http://schemas.microsoft.com/office/drawing/2014/main" id="{8F18BBA2-811F-41E1-AEAF-A3557D1BE27B}"/>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FDEC69A3-0958-4FE2-B1B4-1106920B80C0}" type="slidenum">
              <a:rPr lang="en-US" altLang="en-US">
                <a:solidFill>
                  <a:srgbClr val="898989"/>
                </a:solidFill>
              </a:rPr>
              <a:pPr/>
              <a:t>3</a:t>
            </a:fld>
            <a:endParaRPr lang="en-US" altLang="en-US">
              <a:solidFill>
                <a:srgbClr val="898989"/>
              </a:solidFill>
            </a:endParaRPr>
          </a:p>
        </p:txBody>
      </p:sp>
      <p:pic>
        <p:nvPicPr>
          <p:cNvPr id="4" name="Picture 3">
            <a:extLst>
              <a:ext uri="{FF2B5EF4-FFF2-40B4-BE49-F238E27FC236}">
                <a16:creationId xmlns:a16="http://schemas.microsoft.com/office/drawing/2014/main" id="{B543C64E-E448-0AE8-AC06-C25391F172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2628900" y="6264275"/>
            <a:ext cx="3962400" cy="365125"/>
          </a:xfrm>
        </p:spPr>
        <p:txBody>
          <a:bodyPr/>
          <a:lstStyle/>
          <a:p>
            <a:pPr>
              <a:defRPr/>
            </a:pPr>
            <a:r>
              <a:rPr lang="en-US" dirty="0"/>
              <a:t>DEPARTMENT OF CSE : MINI PROJECT</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Existing System Vs Proposed </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4</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132573"/>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lnSpc>
                <a:spcPct val="90000"/>
              </a:lnSpc>
              <a:spcBef>
                <a:spcPts val="500"/>
              </a:spcBef>
              <a:buSzTx/>
              <a:buNone/>
              <a:defRPr sz="2100" b="1">
                <a:latin typeface="Times New Roman"/>
                <a:ea typeface="Times New Roman"/>
                <a:cs typeface="Times New Roman"/>
                <a:sym typeface="Times New Roman"/>
              </a:defRPr>
            </a:pPr>
            <a:r>
              <a:rPr lang="en-US" sz="1800" dirty="0"/>
              <a:t>1. Existing Systems</a:t>
            </a:r>
          </a:p>
          <a:p>
            <a:r>
              <a:rPr lang="en-US" sz="1800" dirty="0"/>
              <a:t>Current certificate verification methods are mostly manual or use centralized databases. These approaches are slow, prone to errors, and can be manipulated.</a:t>
            </a:r>
          </a:p>
          <a:p>
            <a:r>
              <a:rPr lang="en-US" sz="1800" dirty="0"/>
              <a:t>Some systems use QR codes for verification, but they still have security limitations.</a:t>
            </a:r>
          </a:p>
          <a:p>
            <a:r>
              <a:rPr lang="en-US" sz="1800" dirty="0"/>
              <a:t>Additionally, many existing solutions do not support verification of multiple academic records together, making the process incomplete and inefficient.</a:t>
            </a:r>
          </a:p>
          <a:p>
            <a:pPr marL="0" indent="0">
              <a:buNone/>
            </a:pPr>
            <a:endParaRPr lang="en-US" sz="1800" dirty="0"/>
          </a:p>
          <a:p>
            <a:pPr marL="0" indent="0">
              <a:buNone/>
            </a:pPr>
            <a:r>
              <a:rPr lang="en-US" sz="1800" b="1" dirty="0"/>
              <a:t>2.  Proposed Solution</a:t>
            </a:r>
          </a:p>
          <a:p>
            <a:r>
              <a:rPr lang="en-US" sz="1800" dirty="0"/>
              <a:t>The </a:t>
            </a:r>
            <a:r>
              <a:rPr lang="en-US" sz="1800" b="1" dirty="0"/>
              <a:t>Academic Records Validator</a:t>
            </a:r>
            <a:r>
              <a:rPr lang="en-US" sz="1800" dirty="0"/>
              <a:t> provides a secure and automated way to verify academic certificates. It extracts key details from certificates using OCR, generates a unique hash using SHA-256, and stores the hash on a blockchain.</a:t>
            </a:r>
          </a:p>
          <a:p>
            <a:r>
              <a:rPr lang="en-US" sz="1800" dirty="0"/>
              <a:t>During verification, the system regenerates the hash from the uploaded certificate and compares it with the stored blockchain record. If both match, the certificate is genuine; otherwise, it is flagged as fake. This ensures fast, reliable, and tamper-proof validation of academic records.</a:t>
            </a:r>
          </a:p>
          <a:p>
            <a:pPr marL="0" indent="0" fontAlgn="auto">
              <a:spcAft>
                <a:spcPts val="0"/>
              </a:spcAft>
              <a:buNone/>
              <a:defRPr/>
            </a:pPr>
            <a:endParaRPr lang="en-US" sz="2800" dirty="0"/>
          </a:p>
          <a:p>
            <a:pPr fontAlgn="auto">
              <a:spcAft>
                <a:spcPts val="0"/>
              </a:spcAft>
              <a:buFont typeface="Arial" panose="020B0604020202020204" pitchFamily="34" charset="0"/>
              <a:buNone/>
              <a:defRPr/>
            </a:pPr>
            <a:endParaRPr lang="en-US" sz="28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DEPARTMENT OF CSE : MINI PROJECT</a:t>
            </a: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Research Gaps</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5</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r>
              <a:rPr lang="en-US" sz="1800" dirty="0"/>
              <a:t>Existing certificate verification systems have several limitations. They are often manual, time-consuming, and prone to human errors. Many systems rely on centralized databases, which are vulnerable to data tampering and security breaches.</a:t>
            </a:r>
          </a:p>
          <a:p>
            <a:r>
              <a:rPr lang="en-US" sz="1800" dirty="0"/>
              <a:t>There is a lack of strong mechanisms to ensure data integrity and authenticity. Current solutions also do not provide a fully automated process and fail to support verification of multiple academic records in a single system.</a:t>
            </a:r>
          </a:p>
          <a:p>
            <a:r>
              <a:rPr lang="en-US" sz="1800" dirty="0"/>
              <a:t>Additionally, there is limited use of advanced technologies like blockchain and hashing, resulting in lower trust, transparency, and reliability.</a:t>
            </a:r>
          </a:p>
          <a:p>
            <a:r>
              <a:rPr lang="en-US" sz="1800" dirty="0"/>
              <a:t>Another key gap is the </a:t>
            </a:r>
            <a:r>
              <a:rPr lang="en-US" sz="1800" b="1" dirty="0"/>
              <a:t>lack of effective use of OCR and AI</a:t>
            </a:r>
            <a:r>
              <a:rPr lang="en-US" sz="1800" dirty="0"/>
              <a:t>, which limits automatic data extraction and advanced fraud detection capabilities.</a:t>
            </a:r>
          </a:p>
          <a:p>
            <a:r>
              <a:rPr lang="en-US" sz="1800" dirty="0"/>
              <a:t>Furthermore, many systems lack standardization across institutions, making it difficult to uniformly verify certificates from different boards or universities.</a:t>
            </a: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DEPARTMENT OF CSE : MINI PROJECT</a:t>
            </a:r>
            <a:endParaRPr lang="en-US" dirty="0"/>
          </a:p>
        </p:txBody>
      </p:sp>
    </p:spTree>
    <p:extLst>
      <p:ext uri="{BB962C8B-B14F-4D97-AF65-F5344CB8AC3E}">
        <p14:creationId xmlns:p14="http://schemas.microsoft.com/office/powerpoint/2010/main" val="278657901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8CED-A8D7-449C-97C8-99B0836452E6}"/>
              </a:ext>
            </a:extLst>
          </p:cNvPr>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rtlCol="0">
            <a:normAutofit/>
          </a:bodyPr>
          <a:lstStyle/>
          <a:p>
            <a:pPr fontAlgn="auto">
              <a:lnSpc>
                <a:spcPct val="110000"/>
              </a:lnSpc>
              <a:spcBef>
                <a:spcPts val="1200"/>
              </a:spcBef>
              <a:spcAft>
                <a:spcPts val="0"/>
              </a:spcAft>
              <a:defRPr/>
            </a:pPr>
            <a:r>
              <a:rPr lang="en-US" sz="3200" b="1" dirty="0">
                <a:solidFill>
                  <a:srgbClr val="C00000"/>
                </a:solidFill>
              </a:rPr>
              <a:t>Problem Statement</a:t>
            </a:r>
          </a:p>
        </p:txBody>
      </p:sp>
      <p:sp>
        <p:nvSpPr>
          <p:cNvPr id="5" name="Slide Number Placeholder 4">
            <a:extLst>
              <a:ext uri="{FF2B5EF4-FFF2-40B4-BE49-F238E27FC236}">
                <a16:creationId xmlns:a16="http://schemas.microsoft.com/office/drawing/2014/main" id="{7796F442-E18B-4635-9FAA-701AD322F9E1}"/>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D5C5A9F0-E73D-4B60-A9C9-5ECD709B9C67}" type="slidenum">
              <a:rPr lang="en-US" altLang="en-US">
                <a:solidFill>
                  <a:srgbClr val="898989"/>
                </a:solidFill>
              </a:rPr>
              <a:pPr/>
              <a:t>6</a:t>
            </a:fld>
            <a:endParaRPr lang="en-US" altLang="en-US">
              <a:solidFill>
                <a:srgbClr val="898989"/>
              </a:solidFill>
            </a:endParaRPr>
          </a:p>
        </p:txBody>
      </p:sp>
      <p:sp>
        <p:nvSpPr>
          <p:cNvPr id="7" name="Footer Placeholder 6">
            <a:extLst>
              <a:ext uri="{FF2B5EF4-FFF2-40B4-BE49-F238E27FC236}">
                <a16:creationId xmlns:a16="http://schemas.microsoft.com/office/drawing/2014/main" id="{5D6B6BA2-8763-4063-9DAF-378FCB0B449B}"/>
              </a:ext>
            </a:extLst>
          </p:cNvPr>
          <p:cNvSpPr>
            <a:spLocks noGrp="1"/>
          </p:cNvSpPr>
          <p:nvPr>
            <p:ph type="ftr" sz="quarter" idx="11"/>
          </p:nvPr>
        </p:nvSpPr>
        <p:spPr>
          <a:xfrm>
            <a:off x="2362200" y="6356350"/>
            <a:ext cx="4114800" cy="365125"/>
          </a:xfrm>
        </p:spPr>
        <p:txBody>
          <a:bodyPr/>
          <a:lstStyle/>
          <a:p>
            <a:pPr>
              <a:defRPr/>
            </a:pPr>
            <a:r>
              <a:rPr lang="en-US" dirty="0"/>
              <a:t>DEPARTMENT OF CSE MINI PROJECT REVIEW-1</a:t>
            </a:r>
          </a:p>
        </p:txBody>
      </p:sp>
      <p:sp>
        <p:nvSpPr>
          <p:cNvPr id="9" name="Content Placeholder 8"/>
          <p:cNvSpPr>
            <a:spLocks noGrp="1"/>
          </p:cNvSpPr>
          <p:nvPr>
            <p:ph idx="1"/>
          </p:nvPr>
        </p:nvSpPr>
        <p:spPr/>
        <p:txBody>
          <a:bodyPr/>
          <a:lstStyle/>
          <a:p>
            <a:endParaRPr lang="en-US" dirty="0"/>
          </a:p>
        </p:txBody>
      </p:sp>
      <p:pic>
        <p:nvPicPr>
          <p:cNvPr id="3" name="Picture 2">
            <a:extLst>
              <a:ext uri="{FF2B5EF4-FFF2-40B4-BE49-F238E27FC236}">
                <a16:creationId xmlns:a16="http://schemas.microsoft.com/office/drawing/2014/main" id="{03D90AE2-BDCA-9B3A-4F4B-21D4398447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4" name="Content Placeholder 2">
            <a:extLst>
              <a:ext uri="{FF2B5EF4-FFF2-40B4-BE49-F238E27FC236}">
                <a16:creationId xmlns:a16="http://schemas.microsoft.com/office/drawing/2014/main" id="{6CE7D5AF-E7FA-CA07-9D90-D8FD812F3F68}"/>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r>
              <a:rPr lang="en-US" sz="1800" dirty="0"/>
              <a:t>The increasing number of fake and tampered academic certificates has become a major challenge for institutions, employers, and verification agencies. Existing verification methods are mostly manual or depend on centralized systems, making them slow, error-prone, and vulnerable to data manipulation.</a:t>
            </a:r>
          </a:p>
          <a:p>
            <a:pPr marL="0" indent="0">
              <a:buNone/>
            </a:pPr>
            <a:r>
              <a:rPr lang="en-US" sz="1800" dirty="0"/>
              <a:t>Moreover, current solutions lack automation and fail to effectively use technologies like OCR and AI for data extraction and fraud detection. They also do not support verification of multiple academic records in a single system and lack standardization across different institutions.</a:t>
            </a:r>
          </a:p>
          <a:p>
            <a:pPr marL="0" indent="0">
              <a:buNone/>
            </a:pPr>
            <a:r>
              <a:rPr lang="en-US" sz="1800" dirty="0"/>
              <a:t>As a result, the verification process becomes time-consuming, costly, and unreliable. Therefore, there is a need for a secure, automated, and scalable system that ensures fast, accurate, and tamper-proof validation of academic credentials.</a:t>
            </a: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357155126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Proposed Project Objectives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r>
              <a:rPr lang="en-US" sz="1800" dirty="0"/>
              <a:t>To develop a secure and automated system that simplifies the process of verifying academic certificates and reduces dependency on manual verification methods.</a:t>
            </a:r>
          </a:p>
          <a:p>
            <a:r>
              <a:rPr lang="en-US" sz="1800" dirty="0"/>
              <a:t>To extract essential information such as name, roll number, certificate ID, institution name, and year of passing from certificates using OCR technology for accurate data processing.</a:t>
            </a:r>
          </a:p>
          <a:p>
            <a:r>
              <a:rPr lang="en-US" sz="1800" dirty="0"/>
              <a:t>To generate a unique cryptographic hash for each certificate using the SHA-256 algorithm, ensuring that every document has a distinct and secure digital identity.</a:t>
            </a:r>
          </a:p>
          <a:p>
            <a:r>
              <a:rPr lang="en-US" sz="1800" dirty="0"/>
              <a:t>To store the generated hash on a blockchain network, which provides a tamper-proof and transparent mechanism for maintaining certificate authenticity.</a:t>
            </a:r>
          </a:p>
          <a:p>
            <a:r>
              <a:rPr lang="en-US" sz="1800" dirty="0"/>
              <a:t>To implement a verification mechanism where the system compares the regenerated hash of an uploaded certificate with the stored blockchain hash to determine its genuineness.</a:t>
            </a:r>
          </a:p>
          <a:p>
            <a:r>
              <a:rPr lang="en-US" sz="1800" dirty="0"/>
              <a:t>To support the validation of multiple academic records, including 10th, Intermediate, and Degree certificates, within a single integrated platform.</a:t>
            </a:r>
          </a:p>
          <a:p>
            <a:r>
              <a:rPr lang="en-US" sz="1800" dirty="0"/>
              <a:t>To reduce the overall verification time and minimize human errors by automating the entire validation process.</a:t>
            </a:r>
          </a:p>
        </p:txBody>
      </p:sp>
      <p:sp>
        <p:nvSpPr>
          <p:cNvPr id="5" name="Slide Number Placeholder 4"/>
          <p:cNvSpPr>
            <a:spLocks noGrp="1"/>
          </p:cNvSpPr>
          <p:nvPr>
            <p:ph type="sldNum" sz="quarter" idx="12"/>
          </p:nvPr>
        </p:nvSpPr>
        <p:spPr/>
        <p:txBody>
          <a:bodyPr/>
          <a:lstStyle/>
          <a:p>
            <a:fld id="{B6F15528-21DE-4FAA-801E-634DDDAF4B2B}" type="slidenum">
              <a:rPr lang="en-US"/>
              <a:pPr/>
              <a:t>7</a:t>
            </a:fld>
            <a:endParaRPr lang="en-US"/>
          </a:p>
        </p:txBody>
      </p:sp>
      <p:pic>
        <p:nvPicPr>
          <p:cNvPr id="6" name="Picture 5">
            <a:extLst>
              <a:ext uri="{FF2B5EF4-FFF2-40B4-BE49-F238E27FC236}">
                <a16:creationId xmlns:a16="http://schemas.microsoft.com/office/drawing/2014/main" id="{0AC52FED-457C-B8CE-592D-306D226723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Proposed Project Outcomes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endParaRPr lang="en-US" sz="1800" dirty="0"/>
          </a:p>
          <a:p>
            <a:r>
              <a:rPr lang="en-US" sz="1800" dirty="0"/>
              <a:t>The system will provide a </a:t>
            </a:r>
            <a:r>
              <a:rPr lang="en-US" sz="1800" b="1" dirty="0"/>
              <a:t>secure and reliable platform</a:t>
            </a:r>
            <a:r>
              <a:rPr lang="en-US" sz="1800" dirty="0"/>
              <a:t> for verifying academic certificates, reducing the chances of fraud and fake documents.</a:t>
            </a:r>
          </a:p>
          <a:p>
            <a:r>
              <a:rPr lang="en-US" sz="1800" dirty="0"/>
              <a:t>It will enable </a:t>
            </a:r>
            <a:r>
              <a:rPr lang="en-US" sz="1800" b="1" dirty="0"/>
              <a:t>faster and automated verification</a:t>
            </a:r>
            <a:r>
              <a:rPr lang="en-US" sz="1800" dirty="0"/>
              <a:t>, significantly decreasing the time required compared to manual methods.</a:t>
            </a:r>
          </a:p>
          <a:p>
            <a:r>
              <a:rPr lang="en-US" sz="1800" dirty="0"/>
              <a:t>The use of blockchain will ensure </a:t>
            </a:r>
            <a:r>
              <a:rPr lang="en-US" sz="1800" b="1" dirty="0"/>
              <a:t>data integrity and tamper-proof storage</a:t>
            </a:r>
            <a:r>
              <a:rPr lang="en-US" sz="1800" dirty="0"/>
              <a:t>, increasing trust among institutions and employers.</a:t>
            </a:r>
          </a:p>
          <a:p>
            <a:r>
              <a:rPr lang="en-US" sz="1800" dirty="0"/>
              <a:t>The system will support </a:t>
            </a:r>
            <a:r>
              <a:rPr lang="en-US" sz="1800" b="1" dirty="0"/>
              <a:t>verification of multiple academic records</a:t>
            </a:r>
            <a:r>
              <a:rPr lang="en-US" sz="1800" dirty="0"/>
              <a:t> in a single platform, making the process more efficient and convenient.</a:t>
            </a:r>
          </a:p>
          <a:p>
            <a:r>
              <a:rPr lang="en-US" sz="1800" dirty="0"/>
              <a:t>By using OCR and AI, the system will achieve </a:t>
            </a:r>
            <a:r>
              <a:rPr lang="en-US" sz="1800" b="1" dirty="0"/>
              <a:t>accurate data extraction and improved fraud detection</a:t>
            </a:r>
            <a:r>
              <a:rPr lang="en-US" sz="1800" dirty="0"/>
              <a:t>.</a:t>
            </a:r>
          </a:p>
          <a:p>
            <a:r>
              <a:rPr lang="en-US" sz="1800" dirty="0"/>
              <a:t>Overall, the project will enhance </a:t>
            </a:r>
            <a:r>
              <a:rPr lang="en-US" sz="1800" b="1" dirty="0"/>
              <a:t>transparency, efficiency, and reliability</a:t>
            </a:r>
            <a:r>
              <a:rPr lang="en-US" sz="1800" dirty="0"/>
              <a:t> in academic credential verification.</a:t>
            </a:r>
          </a:p>
        </p:txBody>
      </p:sp>
      <p:sp>
        <p:nvSpPr>
          <p:cNvPr id="5" name="Slide Number Placeholder 4"/>
          <p:cNvSpPr>
            <a:spLocks noGrp="1"/>
          </p:cNvSpPr>
          <p:nvPr>
            <p:ph type="sldNum" sz="quarter" idx="12"/>
          </p:nvPr>
        </p:nvSpPr>
        <p:spPr/>
        <p:txBody>
          <a:bodyPr/>
          <a:lstStyle/>
          <a:p>
            <a:fld id="{B6F15528-21DE-4FAA-801E-634DDDAF4B2B}" type="slidenum">
              <a:rPr lang="en-US"/>
              <a:pPr/>
              <a:t>8</a:t>
            </a:fld>
            <a:endParaRPr lang="en-US"/>
          </a:p>
        </p:txBody>
      </p:sp>
      <p:pic>
        <p:nvPicPr>
          <p:cNvPr id="6" name="Picture 5">
            <a:extLst>
              <a:ext uri="{FF2B5EF4-FFF2-40B4-BE49-F238E27FC236}">
                <a16:creationId xmlns:a16="http://schemas.microsoft.com/office/drawing/2014/main" id="{0AC52FED-457C-B8CE-592D-306D226723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325617338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Software and Hardware Requirements</a:t>
            </a:r>
          </a:p>
        </p:txBody>
      </p:sp>
      <p:sp>
        <p:nvSpPr>
          <p:cNvPr id="3" name="Content Placeholder 2"/>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a:normAutofit/>
          </a:bodyPr>
          <a:lstStyle/>
          <a:p>
            <a:pPr marL="0" indent="0">
              <a:buNone/>
            </a:pPr>
            <a:r>
              <a:rPr lang="en-US" sz="1800" b="1" dirty="0"/>
              <a:t>Software Requirements</a:t>
            </a:r>
            <a:endParaRPr lang="en-US" sz="1800" dirty="0"/>
          </a:p>
          <a:p>
            <a:pPr>
              <a:buFont typeface="Arial" panose="020B0604020202020204" pitchFamily="34" charset="0"/>
              <a:buChar char="•"/>
            </a:pPr>
            <a:r>
              <a:rPr lang="en-US" sz="1800" b="1" dirty="0"/>
              <a:t>Programming Languages &amp; Platforms:</a:t>
            </a:r>
            <a:r>
              <a:rPr lang="en-US" sz="1800" dirty="0"/>
              <a:t> Python , Node.js </a:t>
            </a:r>
          </a:p>
          <a:p>
            <a:pPr>
              <a:buFont typeface="Arial" panose="020B0604020202020204" pitchFamily="34" charset="0"/>
              <a:buChar char="•"/>
            </a:pPr>
            <a:r>
              <a:rPr lang="en-US" sz="1800" b="1" dirty="0"/>
              <a:t>Backend (Python):</a:t>
            </a:r>
            <a:r>
              <a:rPr lang="en-US" sz="1800" dirty="0"/>
              <a:t> Flask, TensorFlow, NumPy, Pandas, Scikit-learn, Web3.py </a:t>
            </a:r>
          </a:p>
          <a:p>
            <a:pPr>
              <a:buFont typeface="Arial" panose="020B0604020202020204" pitchFamily="34" charset="0"/>
              <a:buChar char="•"/>
            </a:pPr>
            <a:r>
              <a:rPr lang="en-US" sz="1800" b="1" dirty="0"/>
              <a:t>AI Module &amp; Workflow:</a:t>
            </a:r>
            <a:r>
              <a:rPr lang="en-US" sz="1800" dirty="0"/>
              <a:t>MobileNetV2 , OpenCV + Tesseract</a:t>
            </a:r>
            <a:endParaRPr lang="en-US" sz="1800" b="1" dirty="0"/>
          </a:p>
          <a:p>
            <a:pPr>
              <a:buFont typeface="Arial" panose="020B0604020202020204" pitchFamily="34" charset="0"/>
              <a:buChar char="•"/>
            </a:pPr>
            <a:r>
              <a:rPr lang="en-US" sz="1800" b="1" dirty="0"/>
              <a:t>Frontend (React):</a:t>
            </a:r>
            <a:r>
              <a:rPr lang="en-US" sz="1800" dirty="0"/>
              <a:t> React 18, </a:t>
            </a:r>
            <a:r>
              <a:rPr lang="en-US" sz="1800" dirty="0" err="1"/>
              <a:t>Axios</a:t>
            </a:r>
            <a:r>
              <a:rPr lang="en-US" sz="1800" dirty="0"/>
              <a:t> , react-scripts </a:t>
            </a:r>
          </a:p>
          <a:p>
            <a:pPr>
              <a:buFont typeface="Arial" panose="020B0604020202020204" pitchFamily="34" charset="0"/>
              <a:buChar char="•"/>
            </a:pPr>
            <a:r>
              <a:rPr lang="en-US" sz="1800" b="1" dirty="0"/>
              <a:t>Blockchain:</a:t>
            </a:r>
            <a:r>
              <a:rPr lang="en-US" sz="1800" dirty="0"/>
              <a:t> Hardhat, Solidity (smart contracts) , SHA-256</a:t>
            </a:r>
          </a:p>
          <a:p>
            <a:pPr marL="0" indent="0">
              <a:buNone/>
            </a:pPr>
            <a:endParaRPr lang="en-US" sz="1800" dirty="0"/>
          </a:p>
          <a:p>
            <a:pPr marL="0" indent="0">
              <a:buNone/>
            </a:pPr>
            <a:r>
              <a:rPr lang="en-US" sz="1800" b="1" dirty="0"/>
              <a:t>Hardware Requirements</a:t>
            </a:r>
            <a:endParaRPr lang="en-US" sz="1800" dirty="0"/>
          </a:p>
          <a:p>
            <a:pPr>
              <a:buFont typeface="Arial" panose="020B0604020202020204" pitchFamily="34" charset="0"/>
              <a:buChar char="•"/>
            </a:pPr>
            <a:r>
              <a:rPr lang="en-US" sz="1800" b="1" dirty="0"/>
              <a:t>Processor:</a:t>
            </a:r>
            <a:r>
              <a:rPr lang="en-US" sz="1800" dirty="0"/>
              <a:t> Minimum i3, Recommended i5/i7 or Ryzen 5/7 </a:t>
            </a:r>
          </a:p>
          <a:p>
            <a:pPr>
              <a:buFont typeface="Arial" panose="020B0604020202020204" pitchFamily="34" charset="0"/>
              <a:buChar char="•"/>
            </a:pPr>
            <a:r>
              <a:rPr lang="en-US" sz="1800" b="1" dirty="0"/>
              <a:t>RAM:</a:t>
            </a:r>
            <a:r>
              <a:rPr lang="en-US" sz="1800" dirty="0"/>
              <a:t> Minimum 8 GB, Recommended 16 GB </a:t>
            </a:r>
          </a:p>
          <a:p>
            <a:pPr>
              <a:buFont typeface="Arial" panose="020B0604020202020204" pitchFamily="34" charset="0"/>
              <a:buChar char="•"/>
            </a:pPr>
            <a:r>
              <a:rPr lang="en-US" sz="1800" b="1" dirty="0"/>
              <a:t>Storage:</a:t>
            </a:r>
            <a:r>
              <a:rPr lang="en-US" sz="1800" dirty="0"/>
              <a:t> Minimum 10 GB, Recommended 20+ GB (SSD preferred) </a:t>
            </a:r>
          </a:p>
          <a:p>
            <a:pPr>
              <a:buFont typeface="Arial" panose="020B0604020202020204" pitchFamily="34" charset="0"/>
              <a:buChar char="•"/>
            </a:pPr>
            <a:r>
              <a:rPr lang="en-US" sz="1800" b="1" dirty="0"/>
              <a:t>GPU (Optional):</a:t>
            </a:r>
            <a:r>
              <a:rPr lang="en-US" sz="1800" dirty="0"/>
              <a:t> NVIDIA GPU for faster AI processing </a:t>
            </a:r>
          </a:p>
          <a:p>
            <a:pPr>
              <a:buFont typeface="Arial" panose="020B0604020202020204" pitchFamily="34" charset="0"/>
              <a:buChar char="•"/>
            </a:pPr>
            <a:r>
              <a:rPr lang="en-US" sz="1800" b="1" dirty="0"/>
              <a:t>Network:</a:t>
            </a:r>
            <a:r>
              <a:rPr lang="en-US" sz="1800" dirty="0"/>
              <a:t> Stable internet for setup and blockchain operations</a:t>
            </a:r>
          </a:p>
          <a:p>
            <a:pPr>
              <a:buNone/>
            </a:pPr>
            <a:endParaRPr lang="en-US" sz="2800" dirty="0"/>
          </a:p>
        </p:txBody>
      </p:sp>
      <p:sp>
        <p:nvSpPr>
          <p:cNvPr id="5" name="Slide Number Placeholder 4"/>
          <p:cNvSpPr>
            <a:spLocks noGrp="1"/>
          </p:cNvSpPr>
          <p:nvPr>
            <p:ph type="sldNum" sz="quarter" idx="12"/>
          </p:nvPr>
        </p:nvSpPr>
        <p:spPr/>
        <p:txBody>
          <a:bodyPr/>
          <a:lstStyle/>
          <a:p>
            <a:fld id="{B6F15528-21DE-4FAA-801E-634DDDAF4B2B}" type="slidenum">
              <a:rPr lang="en-US"/>
              <a:pPr/>
              <a:t>9</a:t>
            </a:fld>
            <a:endParaRPr lang="en-US"/>
          </a:p>
        </p:txBody>
      </p:sp>
      <p:pic>
        <p:nvPicPr>
          <p:cNvPr id="6" name="Picture 5">
            <a:extLst>
              <a:ext uri="{FF2B5EF4-FFF2-40B4-BE49-F238E27FC236}">
                <a16:creationId xmlns:a16="http://schemas.microsoft.com/office/drawing/2014/main" id="{0AC52FED-457C-B8CE-592D-306D226723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8"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21033324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824" y="272283"/>
            <a:ext cx="7638305" cy="611161"/>
          </a:xfrm>
        </p:spPr>
        <p:style>
          <a:lnRef idx="2">
            <a:schemeClr val="accent5"/>
          </a:lnRef>
          <a:fillRef idx="1">
            <a:schemeClr val="lt1"/>
          </a:fillRef>
          <a:effectRef idx="0">
            <a:schemeClr val="accent5"/>
          </a:effectRef>
          <a:fontRef idx="minor">
            <a:schemeClr val="dk1"/>
          </a:fontRef>
        </p:style>
        <p:txBody>
          <a:bodyPr>
            <a:normAutofit/>
          </a:bodyPr>
          <a:lstStyle/>
          <a:p>
            <a:pPr>
              <a:lnSpc>
                <a:spcPct val="110000"/>
              </a:lnSpc>
              <a:spcBef>
                <a:spcPts val="1200"/>
              </a:spcBef>
            </a:pPr>
            <a:r>
              <a:rPr lang="en-US" sz="3200" b="1" dirty="0">
                <a:solidFill>
                  <a:srgbClr val="C00000"/>
                </a:solidFill>
              </a:rPr>
              <a:t>Architectural Diagram</a:t>
            </a:r>
          </a:p>
        </p:txBody>
      </p:sp>
      <p:sp>
        <p:nvSpPr>
          <p:cNvPr id="5" name="Slide Number Placeholder 4"/>
          <p:cNvSpPr>
            <a:spLocks noGrp="1"/>
          </p:cNvSpPr>
          <p:nvPr>
            <p:ph type="sldNum" sz="quarter" idx="12"/>
          </p:nvPr>
        </p:nvSpPr>
        <p:spPr>
          <a:xfrm>
            <a:off x="7010400" y="6492875"/>
            <a:ext cx="2133600" cy="365125"/>
          </a:xfrm>
        </p:spPr>
        <p:txBody>
          <a:bodyPr/>
          <a:lstStyle/>
          <a:p>
            <a:fld id="{B6F15528-21DE-4FAA-801E-634DDDAF4B2B}" type="slidenum">
              <a:rPr lang="en-US"/>
              <a:pPr/>
              <a:t>10</a:t>
            </a:fld>
            <a:endParaRPr lang="en-US"/>
          </a:p>
        </p:txBody>
      </p:sp>
      <p:sp>
        <p:nvSpPr>
          <p:cNvPr id="34" name="Content Placeholder 33"/>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6A6DD126-8543-7714-EE4A-27D656E6708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6"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a:p>
          <a:p>
            <a:pPr fontAlgn="auto">
              <a:spcAft>
                <a:spcPts val="0"/>
              </a:spcAft>
              <a:buFont typeface="Arial" panose="020B0604020202020204" pitchFamily="34" charset="0"/>
              <a:buNone/>
              <a:defRPr/>
            </a:pPr>
            <a:endParaRPr lang="en-US" sz="2800" dirty="0">
              <a:cs typeface="Calibri"/>
            </a:endParaRPr>
          </a:p>
        </p:txBody>
      </p:sp>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pic>
        <p:nvPicPr>
          <p:cNvPr id="4" name="Picture 3">
            <a:extLst>
              <a:ext uri="{FF2B5EF4-FFF2-40B4-BE49-F238E27FC236}">
                <a16:creationId xmlns:a16="http://schemas.microsoft.com/office/drawing/2014/main" id="{067519E7-A7EB-5D30-FD29-E3D61E9A0288}"/>
              </a:ext>
            </a:extLst>
          </p:cNvPr>
          <p:cNvPicPr>
            <a:picLocks noChangeAspect="1"/>
          </p:cNvPicPr>
          <p:nvPr/>
        </p:nvPicPr>
        <p:blipFill>
          <a:blip r:embed="rId3"/>
          <a:stretch>
            <a:fillRect/>
          </a:stretch>
        </p:blipFill>
        <p:spPr>
          <a:xfrm>
            <a:off x="457200" y="1328351"/>
            <a:ext cx="8382000" cy="4797812"/>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PROPOSED METHOD AND ALGORITHMS</a:t>
            </a:r>
          </a:p>
        </p:txBody>
      </p:sp>
      <p:sp>
        <p:nvSpPr>
          <p:cNvPr id="5" name="Slide Number Placeholder 4"/>
          <p:cNvSpPr>
            <a:spLocks noGrp="1"/>
          </p:cNvSpPr>
          <p:nvPr>
            <p:ph type="sldNum" sz="quarter" idx="12"/>
          </p:nvPr>
        </p:nvSpPr>
        <p:spPr/>
        <p:txBody>
          <a:bodyPr/>
          <a:lstStyle/>
          <a:p>
            <a:fld id="{B6F15528-21DE-4FAA-801E-634DDDAF4B2B}" type="slidenum">
              <a:rPr lang="en-US"/>
              <a:pPr/>
              <a:t>11</a:t>
            </a:fld>
            <a:endParaRPr lang="en-US"/>
          </a:p>
        </p:txBody>
      </p:sp>
      <p:sp>
        <p:nvSpPr>
          <p:cNvPr id="8" name="Content Placeholder 7"/>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9"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r>
              <a:rPr lang="en-US" sz="1800" b="1" dirty="0"/>
              <a:t>Optical Character Recognition (OCR) Algorithm</a:t>
            </a:r>
            <a:br>
              <a:rPr lang="en-US" sz="1800" dirty="0"/>
            </a:br>
            <a:r>
              <a:rPr lang="en-US" sz="1800" dirty="0"/>
              <a:t>Used to extract text and important details (name, roll number, certificate ID, etc.) from certificate images or PDFs.</a:t>
            </a:r>
          </a:p>
          <a:p>
            <a:pPr fontAlgn="auto">
              <a:spcAft>
                <a:spcPts val="0"/>
              </a:spcAft>
              <a:defRPr/>
            </a:pPr>
            <a:r>
              <a:rPr lang="en-US" sz="1800" b="1" dirty="0"/>
              <a:t>Image Preprocessing Algorithms (OpenCV)</a:t>
            </a:r>
            <a:br>
              <a:rPr lang="en-US" sz="1800" dirty="0"/>
            </a:br>
            <a:r>
              <a:rPr lang="en-US" sz="1800" dirty="0"/>
              <a:t>Techniques like grayscale conversion, noise removal, and thresholding are used to improve the accuracy of OCR.</a:t>
            </a:r>
          </a:p>
          <a:p>
            <a:pPr fontAlgn="auto">
              <a:spcAft>
                <a:spcPts val="0"/>
              </a:spcAft>
              <a:defRPr/>
            </a:pPr>
            <a:r>
              <a:rPr lang="en-US" sz="1800" b="1" dirty="0"/>
              <a:t>SHA-256 Hashing Algorithm</a:t>
            </a:r>
            <a:br>
              <a:rPr lang="en-US" sz="1800" dirty="0"/>
            </a:br>
            <a:r>
              <a:rPr lang="en-US" sz="1800" dirty="0"/>
              <a:t>Generates a unique digital hash for the extracted certificate data, ensuring data security and integrity.</a:t>
            </a:r>
          </a:p>
          <a:p>
            <a:pPr fontAlgn="auto">
              <a:spcAft>
                <a:spcPts val="0"/>
              </a:spcAft>
              <a:defRPr/>
            </a:pPr>
            <a:r>
              <a:rPr lang="en-US" sz="1800" b="1" dirty="0"/>
              <a:t>Blockchain Smart Contract Algorithm</a:t>
            </a:r>
            <a:br>
              <a:rPr lang="en-US" sz="1800" dirty="0"/>
            </a:br>
            <a:r>
              <a:rPr lang="en-US" sz="1800" dirty="0"/>
              <a:t>Used to store and retrieve the generated hash securely on the blockchain using Solidity.</a:t>
            </a:r>
          </a:p>
          <a:p>
            <a:pPr fontAlgn="auto">
              <a:spcAft>
                <a:spcPts val="0"/>
              </a:spcAft>
              <a:defRPr/>
            </a:pPr>
            <a:r>
              <a:rPr lang="en-US" sz="1800" b="1" dirty="0"/>
              <a:t>AI/ML Forgery Detection Algorithms</a:t>
            </a:r>
            <a:br>
              <a:rPr lang="en-US" sz="1800" dirty="0"/>
            </a:br>
            <a:r>
              <a:rPr lang="en-US" sz="1800" dirty="0"/>
              <a:t>Basic machine learning models are used to detect fake or manipulated certificates.</a:t>
            </a:r>
          </a:p>
          <a:p>
            <a:pPr fontAlgn="auto">
              <a:spcAft>
                <a:spcPts val="0"/>
              </a:spcAft>
              <a:defRPr/>
            </a:pPr>
            <a:r>
              <a:rPr lang="en-US" sz="1800" b="1" dirty="0"/>
              <a:t>Hash Comparison Algorithm</a:t>
            </a:r>
            <a:br>
              <a:rPr lang="en-US" sz="1800" dirty="0"/>
            </a:br>
            <a:r>
              <a:rPr lang="en-US" sz="1800" dirty="0"/>
              <a:t>Compares the regenerated hash of the uploaded certificate with the stored blockchain hash to verify authenticity.</a:t>
            </a:r>
          </a:p>
          <a:p>
            <a:pPr fontAlgn="auto">
              <a:spcAft>
                <a:spcPts val="0"/>
              </a:spcAft>
              <a:buFont typeface="Arial" panose="020B0604020202020204" pitchFamily="34" charset="0"/>
              <a:buNone/>
              <a:defRPr/>
            </a:pPr>
            <a:endParaRPr lang="en-US" sz="2800" dirty="0">
              <a:cs typeface="Calibri"/>
            </a:endParaRPr>
          </a:p>
        </p:txBody>
      </p:sp>
      <p:sp>
        <p:nvSpPr>
          <p:cNvPr id="10"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172966090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Results</a:t>
            </a:r>
          </a:p>
        </p:txBody>
      </p:sp>
      <p:sp>
        <p:nvSpPr>
          <p:cNvPr id="5" name="Slide Number Placeholder 4"/>
          <p:cNvSpPr>
            <a:spLocks noGrp="1"/>
          </p:cNvSpPr>
          <p:nvPr>
            <p:ph type="sldNum" sz="quarter" idx="12"/>
          </p:nvPr>
        </p:nvSpPr>
        <p:spPr/>
        <p:txBody>
          <a:bodyPr/>
          <a:lstStyle/>
          <a:p>
            <a:fld id="{B6F15528-21DE-4FAA-801E-634DDDAF4B2B}" type="slidenum">
              <a:rPr lang="en-US"/>
              <a:pPr/>
              <a:t>12</a:t>
            </a:fld>
            <a:endParaRPr lang="en-US"/>
          </a:p>
        </p:txBody>
      </p:sp>
      <p:sp>
        <p:nvSpPr>
          <p:cNvPr id="8" name="Content Placeholder 7"/>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3124200" y="6356350"/>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10" name="Content Placeholder 2">
            <a:extLst>
              <a:ext uri="{FF2B5EF4-FFF2-40B4-BE49-F238E27FC236}">
                <a16:creationId xmlns:a16="http://schemas.microsoft.com/office/drawing/2014/main" id="{153F79F9-1FE0-3DCC-383B-AD9CC039F066}"/>
              </a:ext>
            </a:extLst>
          </p:cNvPr>
          <p:cNvSpPr txBox="1">
            <a:spLocks/>
          </p:cNvSpPr>
          <p:nvPr/>
        </p:nvSpPr>
        <p:spPr bwMode="auto">
          <a:xfrm>
            <a:off x="152400" y="1020762"/>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r>
              <a:rPr lang="en-US" sz="1800" dirty="0"/>
              <a:t>The system successfully verifies academic certificates with </a:t>
            </a:r>
            <a:r>
              <a:rPr lang="en-US" sz="1800" b="1" dirty="0"/>
              <a:t>high accuracy and reliability</a:t>
            </a:r>
            <a:r>
              <a:rPr lang="en-US" sz="1800" dirty="0"/>
              <a:t>.</a:t>
            </a:r>
          </a:p>
          <a:p>
            <a:pPr fontAlgn="auto">
              <a:spcAft>
                <a:spcPts val="0"/>
              </a:spcAft>
              <a:defRPr/>
            </a:pPr>
            <a:r>
              <a:rPr lang="en-US" sz="1800" dirty="0"/>
              <a:t>It provides a </a:t>
            </a:r>
            <a:r>
              <a:rPr lang="en-US" sz="1800" b="1" dirty="0"/>
              <a:t>fast and automated verification process</a:t>
            </a:r>
            <a:r>
              <a:rPr lang="en-US" sz="1800" dirty="0"/>
              <a:t>, reducing manual effort and time.</a:t>
            </a:r>
          </a:p>
          <a:p>
            <a:pPr fontAlgn="auto">
              <a:spcAft>
                <a:spcPts val="0"/>
              </a:spcAft>
              <a:defRPr/>
            </a:pPr>
            <a:r>
              <a:rPr lang="en-US" sz="1800" dirty="0"/>
              <a:t>Blockchain ensures </a:t>
            </a:r>
            <a:r>
              <a:rPr lang="en-US" sz="1800" b="1" dirty="0"/>
              <a:t>secure and tamper-proof storage</a:t>
            </a:r>
            <a:r>
              <a:rPr lang="en-US" sz="1800" dirty="0"/>
              <a:t> of certificate data.</a:t>
            </a:r>
          </a:p>
          <a:p>
            <a:pPr fontAlgn="auto">
              <a:spcAft>
                <a:spcPts val="0"/>
              </a:spcAft>
              <a:defRPr/>
            </a:pPr>
            <a:r>
              <a:rPr lang="en-US" sz="1800" dirty="0"/>
              <a:t>OCR accurately extracts important details from certificates for processing.</a:t>
            </a:r>
          </a:p>
          <a:p>
            <a:pPr fontAlgn="auto">
              <a:spcAft>
                <a:spcPts val="0"/>
              </a:spcAft>
              <a:defRPr/>
            </a:pPr>
            <a:r>
              <a:rPr lang="en-US" sz="1800" dirty="0"/>
              <a:t>The AI/ML model helps in </a:t>
            </a:r>
            <a:r>
              <a:rPr lang="en-US" sz="1800" b="1" dirty="0"/>
              <a:t>detecting forged or manipulated certificates effectively</a:t>
            </a:r>
            <a:r>
              <a:rPr lang="en-US" sz="1800" dirty="0"/>
              <a:t>.</a:t>
            </a:r>
          </a:p>
          <a:p>
            <a:pPr fontAlgn="auto">
              <a:spcAft>
                <a:spcPts val="0"/>
              </a:spcAft>
              <a:defRPr/>
            </a:pPr>
            <a:r>
              <a:rPr lang="en-US" sz="1800" dirty="0"/>
              <a:t>The system supports </a:t>
            </a:r>
            <a:r>
              <a:rPr lang="en-US" sz="1800" b="1" dirty="0"/>
              <a:t>verification of multiple academic records</a:t>
            </a:r>
            <a:r>
              <a:rPr lang="en-US" sz="1800" dirty="0"/>
              <a:t> in a single platform.</a:t>
            </a:r>
          </a:p>
          <a:p>
            <a:pPr fontAlgn="auto">
              <a:spcAft>
                <a:spcPts val="0"/>
              </a:spcAft>
              <a:defRPr/>
            </a:pPr>
            <a:r>
              <a:rPr lang="en-US" sz="1800" dirty="0"/>
              <a:t>Overall, it improves </a:t>
            </a:r>
            <a:r>
              <a:rPr lang="en-US" sz="1800" b="1" dirty="0"/>
              <a:t>efficiency, transparency, and trust</a:t>
            </a:r>
            <a:r>
              <a:rPr lang="en-US" sz="1800" dirty="0"/>
              <a:t> in academic credential verification.</a:t>
            </a:r>
          </a:p>
          <a:p>
            <a:pPr fontAlgn="auto">
              <a:spcAft>
                <a:spcPts val="0"/>
              </a:spcAft>
              <a:buFont typeface="Arial" panose="020B0604020202020204" pitchFamily="34" charset="0"/>
              <a:buNone/>
              <a:defRPr/>
            </a:pPr>
            <a:endParaRPr lang="en-US" sz="2800" dirty="0">
              <a:cs typeface="Calibri"/>
            </a:endParaRPr>
          </a:p>
        </p:txBody>
      </p:sp>
      <p:sp>
        <p:nvSpPr>
          <p:cNvPr id="11"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extLst>
      <p:ext uri="{BB962C8B-B14F-4D97-AF65-F5344CB8AC3E}">
        <p14:creationId xmlns:p14="http://schemas.microsoft.com/office/powerpoint/2010/main" val="239576142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Research Paper (Acceptance Proof)</a:t>
            </a:r>
          </a:p>
        </p:txBody>
      </p:sp>
      <p:sp>
        <p:nvSpPr>
          <p:cNvPr id="5" name="Slide Number Placeholder 4"/>
          <p:cNvSpPr>
            <a:spLocks noGrp="1"/>
          </p:cNvSpPr>
          <p:nvPr>
            <p:ph type="sldNum" sz="quarter" idx="12"/>
          </p:nvPr>
        </p:nvSpPr>
        <p:spPr/>
        <p:txBody>
          <a:bodyPr/>
          <a:lstStyle/>
          <a:p>
            <a:fld id="{B6F15528-21DE-4FAA-801E-634DDDAF4B2B}" type="slidenum">
              <a:rPr lang="en-US"/>
              <a:pPr/>
              <a:t>13</a:t>
            </a:fld>
            <a:endParaRPr lang="en-US"/>
          </a:p>
        </p:txBody>
      </p:sp>
      <p:sp>
        <p:nvSpPr>
          <p:cNvPr id="8" name="Content Placeholder 7"/>
          <p:cNvSpPr>
            <a:spLocks noGrp="1"/>
          </p:cNvSpPr>
          <p:nvPr>
            <p:ph idx="1"/>
          </p:nvPr>
        </p:nvSpPr>
        <p:spPr/>
        <p:txBody>
          <a:bodyPr/>
          <a:lstStyle/>
          <a:p>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a:spLocks noGrp="1"/>
          </p:cNvSpPr>
          <p:nvPr>
            <p:ph type="ftr" sz="quarter" idx="11"/>
          </p:nvPr>
        </p:nvSpPr>
        <p:spPr>
          <a:xfrm>
            <a:off x="3124200" y="6356350"/>
            <a:ext cx="3962400" cy="365125"/>
          </a:xfrm>
        </p:spPr>
        <p:txBody>
          <a:bodyPr/>
          <a:lstStyle/>
          <a:p>
            <a:pPr>
              <a:defRPr/>
            </a:pPr>
            <a:r>
              <a:rPr lang="en-US" dirty="0"/>
              <a:t>DEPARTMENT OF CSE MINI PROJECT REVIEW-4</a:t>
            </a:r>
          </a:p>
        </p:txBody>
      </p:sp>
      <p:sp>
        <p:nvSpPr>
          <p:cNvPr id="9" name="Content Placeholder 2">
            <a:extLst>
              <a:ext uri="{FF2B5EF4-FFF2-40B4-BE49-F238E27FC236}">
                <a16:creationId xmlns:a16="http://schemas.microsoft.com/office/drawing/2014/main" id="{153F79F9-1FE0-3DCC-383B-AD9CC039F066}"/>
              </a:ext>
            </a:extLst>
          </p:cNvPr>
          <p:cNvSpPr txBox="1">
            <a:spLocks/>
          </p:cNvSpPr>
          <p:nvPr/>
        </p:nvSpPr>
        <p:spPr bwMode="auto">
          <a:xfrm>
            <a:off x="228600" y="1066800"/>
            <a:ext cx="8763000" cy="5562600"/>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fontAlgn="auto">
              <a:spcAft>
                <a:spcPts val="0"/>
              </a:spcAft>
              <a:defRPr/>
            </a:pPr>
            <a:endParaRPr lang="en-US" sz="2800"/>
          </a:p>
          <a:p>
            <a:pPr fontAlgn="auto">
              <a:spcAft>
                <a:spcPts val="0"/>
              </a:spcAft>
              <a:buFont typeface="Arial" panose="020B0604020202020204" pitchFamily="34" charset="0"/>
              <a:buNone/>
              <a:defRPr/>
            </a:pPr>
            <a:endParaRPr lang="en-US" sz="2800" dirty="0">
              <a:cs typeface="Calibri"/>
            </a:endParaRPr>
          </a:p>
        </p:txBody>
      </p:sp>
      <p:sp>
        <p:nvSpPr>
          <p:cNvPr id="10"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pic>
        <p:nvPicPr>
          <p:cNvPr id="6" name="Picture 5">
            <a:extLst>
              <a:ext uri="{FF2B5EF4-FFF2-40B4-BE49-F238E27FC236}">
                <a16:creationId xmlns:a16="http://schemas.microsoft.com/office/drawing/2014/main" id="{7292F18B-C36B-09F8-EBD1-7C41C1A480D8}"/>
              </a:ext>
            </a:extLst>
          </p:cNvPr>
          <p:cNvPicPr>
            <a:picLocks noChangeAspect="1"/>
          </p:cNvPicPr>
          <p:nvPr/>
        </p:nvPicPr>
        <p:blipFill>
          <a:blip r:embed="rId3"/>
          <a:stretch>
            <a:fillRect/>
          </a:stretch>
        </p:blipFill>
        <p:spPr>
          <a:xfrm>
            <a:off x="381000" y="1295400"/>
            <a:ext cx="8305800" cy="4648200"/>
          </a:xfrm>
          <a:prstGeom prst="rect">
            <a:avLst/>
          </a:prstGeom>
        </p:spPr>
      </p:pic>
    </p:spTree>
    <p:extLst>
      <p:ext uri="{BB962C8B-B14F-4D97-AF65-F5344CB8AC3E}">
        <p14:creationId xmlns:p14="http://schemas.microsoft.com/office/powerpoint/2010/main" val="276565946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7391400" cy="639762"/>
          </a:xfrm>
        </p:spPr>
        <p:style>
          <a:lnRef idx="2">
            <a:schemeClr val="accent5"/>
          </a:lnRef>
          <a:fillRef idx="1">
            <a:schemeClr val="lt1"/>
          </a:fillRef>
          <a:effectRef idx="0">
            <a:schemeClr val="accent5"/>
          </a:effectRef>
          <a:fontRef idx="minor">
            <a:schemeClr val="dk1"/>
          </a:fontRef>
        </p:style>
        <p:txBody>
          <a:bodyPr>
            <a:normAutofit/>
          </a:bodyPr>
          <a:lstStyle/>
          <a:p>
            <a:r>
              <a:rPr lang="en-US" sz="3200" b="1" dirty="0">
                <a:solidFill>
                  <a:srgbClr val="C00000"/>
                </a:solidFill>
                <a:cs typeface="Calibri"/>
              </a:rPr>
              <a:t>Conclusion</a:t>
            </a:r>
          </a:p>
        </p:txBody>
      </p:sp>
      <p:sp>
        <p:nvSpPr>
          <p:cNvPr id="5" name="Slide Number Placeholder 4"/>
          <p:cNvSpPr>
            <a:spLocks noGrp="1"/>
          </p:cNvSpPr>
          <p:nvPr>
            <p:ph type="sldNum" sz="quarter" idx="12"/>
          </p:nvPr>
        </p:nvSpPr>
        <p:spPr/>
        <p:txBody>
          <a:bodyPr/>
          <a:lstStyle/>
          <a:p>
            <a:fld id="{B6F15528-21DE-4FAA-801E-634DDDAF4B2B}" type="slidenum">
              <a:rPr lang="en-US"/>
              <a:pPr/>
              <a:t>14</a:t>
            </a:fld>
            <a:endParaRPr lang="en-US"/>
          </a:p>
        </p:txBody>
      </p:sp>
      <p:pic>
        <p:nvPicPr>
          <p:cNvPr id="3" name="Picture 2">
            <a:extLst>
              <a:ext uri="{FF2B5EF4-FFF2-40B4-BE49-F238E27FC236}">
                <a16:creationId xmlns:a16="http://schemas.microsoft.com/office/drawing/2014/main" id="{78511E57-5637-4D94-05DC-943799E81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59090" y="182880"/>
            <a:ext cx="956310" cy="731520"/>
          </a:xfrm>
          <a:prstGeom prst="rect">
            <a:avLst/>
          </a:prstGeom>
        </p:spPr>
      </p:pic>
      <p:sp>
        <p:nvSpPr>
          <p:cNvPr id="9"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
        <p:nvSpPr>
          <p:cNvPr id="4" name="Content Placeholder 2">
            <a:extLst>
              <a:ext uri="{FF2B5EF4-FFF2-40B4-BE49-F238E27FC236}">
                <a16:creationId xmlns:a16="http://schemas.microsoft.com/office/drawing/2014/main" id="{4920CE88-EA39-C7C3-A116-15C1887633D6}"/>
              </a:ext>
            </a:extLst>
          </p:cNvPr>
          <p:cNvSpPr txBox="1">
            <a:spLocks noGrp="1"/>
          </p:cNvSpPr>
          <p:nvPr>
            <p:ph idx="1"/>
          </p:nvPr>
        </p:nvSpPr>
        <p:spPr bwMode="auto">
          <a:xfrm>
            <a:off x="228600" y="1157830"/>
            <a:ext cx="8229600" cy="4906963"/>
          </a:xfrm>
          <a:prstGeom prst="rect">
            <a:avLst/>
          </a:prstGeom>
          <a:ln w="25400" cap="flat" cmpd="sng" algn="ctr">
            <a:solidFill>
              <a:schemeClr val="accent1">
                <a:lumMod val="75000"/>
              </a:schemeClr>
            </a:solidFill>
            <a:prstDash val="soli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rmAutofit/>
          </a:bodyPr>
          <a:lstStyle>
            <a:lvl1pPr marL="342900" indent="-342900" algn="l" rtl="0" fontAlgn="base">
              <a:spcBef>
                <a:spcPct val="20000"/>
              </a:spcBef>
              <a:spcAft>
                <a:spcPct val="0"/>
              </a:spcAft>
              <a:buFont typeface="Arial" panose="020B0604020202020204" pitchFamily="34" charset="0"/>
              <a:buChar char="•"/>
              <a:defRPr sz="3200" kern="1200">
                <a:solidFill>
                  <a:schemeClr val="dk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dk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dk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r>
              <a:rPr lang="en-US" sz="1800" dirty="0"/>
              <a:t>The </a:t>
            </a:r>
            <a:r>
              <a:rPr lang="en-US" sz="1800" b="1" dirty="0"/>
              <a:t>Academic Records Validator</a:t>
            </a:r>
            <a:r>
              <a:rPr lang="en-US" sz="1800" dirty="0"/>
              <a:t> provides a secure, efficient, and automated solution for verifying academic certificates. By integrating OCR for data extraction, AI techniques for forgery detection, and blockchain for tamper-proof storage, the system ensures authenticity and reliability.</a:t>
            </a:r>
          </a:p>
          <a:p>
            <a:pPr marL="0" indent="0">
              <a:buNone/>
            </a:pPr>
            <a:r>
              <a:rPr lang="en-US" sz="1800" dirty="0"/>
              <a:t>The project successfully reduces manual effort, minimizes verification time, and enhances trust in academic credential validation. It also supports verification of multiple records within a single platform, making it practical for real-world use.</a:t>
            </a:r>
          </a:p>
          <a:p>
            <a:pPr marL="0" indent="0">
              <a:buNone/>
            </a:pPr>
            <a:r>
              <a:rPr lang="en-US" sz="1800" dirty="0"/>
              <a:t>Overall, the system demonstrates how modern technologies can be combined to create a robust and scalable solution for detecting fake certificates and improving transparency in the verification process.</a:t>
            </a:r>
          </a:p>
        </p:txBody>
      </p:sp>
    </p:spTree>
    <p:extLst>
      <p:ext uri="{BB962C8B-B14F-4D97-AF65-F5344CB8AC3E}">
        <p14:creationId xmlns:p14="http://schemas.microsoft.com/office/powerpoint/2010/main" val="344569294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BDA53F-B02D-4760-90B7-DB325626B21F}"/>
              </a:ext>
            </a:extLst>
          </p:cNvPr>
          <p:cNvSpPr>
            <a:spLocks noGrp="1"/>
          </p:cNvSpPr>
          <p:nvPr>
            <p:ph idx="1"/>
          </p:nvPr>
        </p:nvSpPr>
        <p:spPr>
          <a:xfrm>
            <a:off x="228600" y="1066800"/>
            <a:ext cx="8763000" cy="5562600"/>
          </a:xfrm>
          <a:ln>
            <a:solidFill>
              <a:schemeClr val="accent1">
                <a:lumMod val="75000"/>
              </a:schemeClr>
            </a:solidFill>
          </a:ln>
        </p:spPr>
        <p:style>
          <a:lnRef idx="2">
            <a:schemeClr val="accent6"/>
          </a:lnRef>
          <a:fillRef idx="1">
            <a:schemeClr val="lt1"/>
          </a:fillRef>
          <a:effectRef idx="0">
            <a:schemeClr val="accent6"/>
          </a:effectRef>
          <a:fontRef idx="minor">
            <a:schemeClr val="dk1"/>
          </a:fontRef>
        </p:style>
        <p:txBody>
          <a:bodyPr rtlCol="0">
            <a:normAutofit/>
          </a:bodyPr>
          <a:lstStyle/>
          <a:p>
            <a:pPr marL="514350" indent="-514350" fontAlgn="auto">
              <a:spcAft>
                <a:spcPts val="0"/>
              </a:spcAft>
              <a:buFont typeface="Arial" panose="020B0604020202020204" pitchFamily="34" charset="0"/>
              <a:buNone/>
              <a:defRPr/>
            </a:pPr>
            <a:endParaRPr lang="en-US" sz="3600" b="1" dirty="0"/>
          </a:p>
          <a:p>
            <a:pPr marL="514350" indent="-514350" fontAlgn="auto">
              <a:spcAft>
                <a:spcPts val="0"/>
              </a:spcAft>
              <a:buFont typeface="Arial" panose="020B0604020202020204" pitchFamily="34" charset="0"/>
              <a:buNone/>
              <a:defRPr/>
            </a:pPr>
            <a:endParaRPr lang="en-US" sz="2800" b="1" dirty="0"/>
          </a:p>
          <a:p>
            <a:pPr marL="514350" indent="-514350" fontAlgn="auto">
              <a:spcAft>
                <a:spcPts val="0"/>
              </a:spcAft>
              <a:buFont typeface="Arial" panose="020B0604020202020204" pitchFamily="34" charset="0"/>
              <a:buNone/>
              <a:defRPr/>
            </a:pPr>
            <a:endParaRPr lang="en-US" sz="2800" b="1" dirty="0"/>
          </a:p>
          <a:p>
            <a:pPr marL="514350" indent="-514350" algn="ctr" fontAlgn="auto">
              <a:spcAft>
                <a:spcPts val="0"/>
              </a:spcAft>
              <a:buFont typeface="Arial" panose="020B0604020202020204" pitchFamily="34" charset="0"/>
              <a:buNone/>
              <a:defRPr/>
            </a:pPr>
            <a:endParaRPr lang="en-US" b="1" dirty="0"/>
          </a:p>
          <a:p>
            <a:pPr marL="514350" indent="-514350" algn="ctr" fontAlgn="auto">
              <a:spcAft>
                <a:spcPts val="0"/>
              </a:spcAft>
              <a:buFont typeface="Arial" panose="020B0604020202020204" pitchFamily="34" charset="0"/>
              <a:buNone/>
              <a:defRPr/>
            </a:pPr>
            <a:r>
              <a:rPr lang="en-US" sz="4400" b="1" dirty="0"/>
              <a:t>Thank You</a:t>
            </a:r>
          </a:p>
          <a:p>
            <a:pPr marL="514350" indent="-514350" fontAlgn="auto">
              <a:spcAft>
                <a:spcPts val="0"/>
              </a:spcAft>
              <a:buFont typeface="Arial" panose="020B0604020202020204" pitchFamily="34" charset="0"/>
              <a:buNone/>
              <a:defRPr/>
            </a:pPr>
            <a:endParaRPr lang="en-US" sz="2800" b="1" dirty="0"/>
          </a:p>
        </p:txBody>
      </p:sp>
      <p:sp>
        <p:nvSpPr>
          <p:cNvPr id="5" name="Slide Number Placeholder 4">
            <a:extLst>
              <a:ext uri="{FF2B5EF4-FFF2-40B4-BE49-F238E27FC236}">
                <a16:creationId xmlns:a16="http://schemas.microsoft.com/office/drawing/2014/main" id="{899BB240-5782-410E-A3EF-F343719E425C}"/>
              </a:ext>
            </a:extLst>
          </p:cNvPr>
          <p:cNvSpPr>
            <a:spLocks noGrp="1"/>
          </p:cNvSpPr>
          <p:nvPr>
            <p:ph type="sldNum" sz="quarter" idx="12"/>
          </p:nvPr>
        </p:nvSpPr>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fld id="{518D7D88-921A-4D31-AE25-21776C2970CA}" type="slidenum">
              <a:rPr lang="en-US" altLang="en-US" dirty="0">
                <a:solidFill>
                  <a:srgbClr val="898989"/>
                </a:solidFill>
              </a:rPr>
              <a:pPr/>
              <a:t>15</a:t>
            </a:fld>
            <a:endParaRPr lang="en-US" altLang="en-US" dirty="0">
              <a:solidFill>
                <a:srgbClr val="898989"/>
              </a:solidFill>
            </a:endParaRPr>
          </a:p>
        </p:txBody>
      </p:sp>
      <p:pic>
        <p:nvPicPr>
          <p:cNvPr id="2" name="Picture 1">
            <a:extLst>
              <a:ext uri="{FF2B5EF4-FFF2-40B4-BE49-F238E27FC236}">
                <a16:creationId xmlns:a16="http://schemas.microsoft.com/office/drawing/2014/main" id="{11BAED27-1BF6-0E39-B7FC-495FE68C4C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1945" y="136525"/>
            <a:ext cx="956310" cy="731520"/>
          </a:xfrm>
          <a:prstGeom prst="rect">
            <a:avLst/>
          </a:prstGeom>
        </p:spPr>
      </p:pic>
      <p:sp>
        <p:nvSpPr>
          <p:cNvPr id="7" name="Footer Placeholder 6">
            <a:extLst>
              <a:ext uri="{FF2B5EF4-FFF2-40B4-BE49-F238E27FC236}">
                <a16:creationId xmlns:a16="http://schemas.microsoft.com/office/drawing/2014/main" id="{AA0CF1A9-7B51-DA39-B206-C946B99C8418}"/>
              </a:ext>
            </a:extLst>
          </p:cNvPr>
          <p:cNvSpPr txBox="1">
            <a:spLocks/>
          </p:cNvSpPr>
          <p:nvPr/>
        </p:nvSpPr>
        <p:spPr>
          <a:xfrm>
            <a:off x="2743200" y="6310312"/>
            <a:ext cx="3962400" cy="365125"/>
          </a:xfrm>
          <a:prstGeom prst="rect">
            <a:avLst/>
          </a:prstGeom>
        </p:spPr>
        <p:txBody>
          <a:bodyPr vert="horz" lIns="91440" tIns="45720" rIns="91440" bIns="45720" rtlCol="0" anchor="ctr"/>
          <a:lstStyle>
            <a:defPPr>
              <a:defRPr lang="en-US"/>
            </a:defPPr>
            <a:lvl1pPr algn="ctr" rtl="0" fontAlgn="auto">
              <a:spcBef>
                <a:spcPts val="0"/>
              </a:spcBef>
              <a:spcAft>
                <a:spcPts val="0"/>
              </a:spcAft>
              <a:defRPr sz="1200" kern="1200">
                <a:solidFill>
                  <a:schemeClr val="tx1">
                    <a:tint val="75000"/>
                  </a:schemeClr>
                </a:solidFill>
                <a:latin typeface="+mn-lt"/>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dirty="0"/>
              <a:t>DEPARTMENT OF CSE : MINI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2760</TotalTime>
  <Words>1638</Words>
  <Application>Microsoft Office PowerPoint</Application>
  <PresentationFormat>On-screen Show (4:3)</PresentationFormat>
  <Paragraphs>153</Paragraphs>
  <Slides>15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Arial,Sans-Serif</vt:lpstr>
      <vt:lpstr>Calibri</vt:lpstr>
      <vt:lpstr>Office Theme</vt:lpstr>
      <vt:lpstr>    DEPARTMENT OF COMPUTER SCIENCE AND ENGINEERING  </vt:lpstr>
      <vt:lpstr>Mini Project Outlines</vt:lpstr>
      <vt:lpstr>Introduction</vt:lpstr>
      <vt:lpstr>Existing System Vs Proposed </vt:lpstr>
      <vt:lpstr>Research Gaps</vt:lpstr>
      <vt:lpstr>Problem Statement</vt:lpstr>
      <vt:lpstr>Proposed Project Objectives</vt:lpstr>
      <vt:lpstr>Proposed Project Outcomes</vt:lpstr>
      <vt:lpstr>Software and Hardware Requirements</vt:lpstr>
      <vt:lpstr>Architectural Diagram</vt:lpstr>
      <vt:lpstr>PROPOSED METHOD AND ALGORITHMS</vt:lpstr>
      <vt:lpstr>Results</vt:lpstr>
      <vt:lpstr>Research Paper (Acceptance Proof)</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Venu Gopal Sakkera</dc:creator>
  <cp:lastModifiedBy>Ganeeb Yashaswini</cp:lastModifiedBy>
  <cp:revision>527</cp:revision>
  <dcterms:created xsi:type="dcterms:W3CDTF">2006-08-16T00:00:00Z</dcterms:created>
  <dcterms:modified xsi:type="dcterms:W3CDTF">2026-06-15T17:37:13Z</dcterms:modified>
</cp:coreProperties>
</file>